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6858000" cy="9144000"/>
  <p:embeddedFontLst>
    <p:embeddedFont>
      <p:font typeface="Google Sans"/>
      <p:regular r:id="rId28"/>
      <p:bold r:id="rId29"/>
      <p:italic r:id="rId30"/>
      <p:boldItalic r:id="rId31"/>
    </p:embeddedFont>
    <p:embeddedFont>
      <p:font typeface="Roboto Mono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GoogleSans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GoogleSa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GoogleSans-boldItalic.fntdata"/><Relationship Id="rId30" Type="http://schemas.openxmlformats.org/officeDocument/2006/relationships/font" Target="fonts/GoogleSans-italic.fntdata"/><Relationship Id="rId11" Type="http://schemas.openxmlformats.org/officeDocument/2006/relationships/slide" Target="slides/slide6.xml"/><Relationship Id="rId33" Type="http://schemas.openxmlformats.org/officeDocument/2006/relationships/font" Target="fonts/RobotoMono-bold.fntdata"/><Relationship Id="rId10" Type="http://schemas.openxmlformats.org/officeDocument/2006/relationships/slide" Target="slides/slide5.xml"/><Relationship Id="rId32" Type="http://schemas.openxmlformats.org/officeDocument/2006/relationships/font" Target="fonts/RobotoMono-regular.fntdata"/><Relationship Id="rId13" Type="http://schemas.openxmlformats.org/officeDocument/2006/relationships/slide" Target="slides/slide8.xml"/><Relationship Id="rId35" Type="http://schemas.openxmlformats.org/officeDocument/2006/relationships/font" Target="fonts/RobotoMono-boldItalic.fntdata"/><Relationship Id="rId12" Type="http://schemas.openxmlformats.org/officeDocument/2006/relationships/slide" Target="slides/slide7.xml"/><Relationship Id="rId34" Type="http://schemas.openxmlformats.org/officeDocument/2006/relationships/font" Target="fonts/RobotoMono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SLIDES_API32697913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SLIDES_API32697913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SLIDES_API326979132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SLIDES_API326979132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SLIDES_API326979132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SLIDES_API326979132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SLIDES_API326979132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SLIDES_API326979132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SLIDES_API326979132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SLIDES_API326979132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SLIDES_API326979132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SLIDES_API326979132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SLIDES_API326979132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SLIDES_API326979132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SLIDES_API326979132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SLIDES_API326979132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SLIDES_API326979132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SLIDES_API326979132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SLIDES_API326979132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SLIDES_API326979132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SLIDES_API326979132_2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SLIDES_API326979132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SLIDES_API326979132_3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SLIDES_API326979132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SLIDES_API326979132_3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SLIDES_API326979132_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SLIDES_API326979132_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SLIDES_API326979132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SLIDES_API326979132_3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SLIDES_API326979132_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SLIDES_API326979132_3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SLIDES_API326979132_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SLIDES_API326979132_4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SLIDES_API326979132_4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SLIDES_API326979132_4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SLIDES_API326979132_4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cb621ba21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3cb621ba21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SLIDES_API326979132_4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SLIDES_API326979132_4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SLIDES_API326979132_5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" name="Google Shape;608;SLIDES_API326979132_5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SLIDES_API326979132_6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5" name="Google Shape;665;SLIDES_API326979132_6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0"/>
            <a:ext cx="2286000" cy="101700"/>
          </a:xfrm>
          <a:prstGeom prst="rect">
            <a:avLst/>
          </a:prstGeom>
          <a:solidFill>
            <a:srgbClr val="F0C6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/>
          <p:nvPr/>
        </p:nvSpPr>
        <p:spPr>
          <a:xfrm>
            <a:off x="2286000" y="0"/>
            <a:ext cx="2286000" cy="1017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4572000" y="0"/>
            <a:ext cx="2286000" cy="1017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/>
          <p:nvPr/>
        </p:nvSpPr>
        <p:spPr>
          <a:xfrm>
            <a:off x="6858000" y="0"/>
            <a:ext cx="2286000" cy="101700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3"/>
          <p:cNvSpPr txBox="1"/>
          <p:nvPr/>
        </p:nvSpPr>
        <p:spPr>
          <a:xfrm>
            <a:off x="508000" y="889000"/>
            <a:ext cx="8127900" cy="8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6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DevOps Pipeline</a:t>
            </a:r>
            <a:endParaRPr b="1" sz="46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508000" y="1816100"/>
            <a:ext cx="8127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8A6FF"/>
                </a:solidFill>
                <a:latin typeface="Roboto Mono"/>
                <a:ea typeface="Roboto Mono"/>
                <a:cs typeface="Roboto Mono"/>
                <a:sym typeface="Roboto Mono"/>
              </a:rPr>
              <a:t>Infrastructure Automation and Container Deployment on Azure</a:t>
            </a:r>
            <a:endParaRPr>
              <a:solidFill>
                <a:srgbClr val="58A6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60" name="Google Shape;60;p13"/>
          <p:cNvCxnSpPr/>
          <p:nvPr/>
        </p:nvCxnSpPr>
        <p:spPr>
          <a:xfrm>
            <a:off x="254000" y="2336800"/>
            <a:ext cx="8636100" cy="0"/>
          </a:xfrm>
          <a:prstGeom prst="straightConnector1">
            <a:avLst/>
          </a:prstGeom>
          <a:noFill/>
          <a:ln cap="flat" cmpd="sng" w="12700">
            <a:solidFill>
              <a:srgbClr val="1F293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" name="Google Shape;61;p13"/>
          <p:cNvSpPr txBox="1"/>
          <p:nvPr/>
        </p:nvSpPr>
        <p:spPr>
          <a:xfrm>
            <a:off x="508000" y="2463800"/>
            <a:ext cx="8127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Terraform  →  Ansible  →  Docker  →  GitHub Actions</a:t>
            </a:r>
            <a:endParaRPr sz="12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2" name="Google Shape;62;p13"/>
          <p:cNvSpPr/>
          <p:nvPr/>
        </p:nvSpPr>
        <p:spPr>
          <a:xfrm>
            <a:off x="298450" y="3810000"/>
            <a:ext cx="1879500" cy="812700"/>
          </a:xfrm>
          <a:prstGeom prst="rect">
            <a:avLst/>
          </a:prstGeom>
          <a:solidFill>
            <a:srgbClr val="161B22"/>
          </a:solidFill>
          <a:ln cap="flat" cmpd="sng" w="19050">
            <a:solidFill>
              <a:srgbClr val="F0C6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3"/>
          <p:cNvSpPr txBox="1"/>
          <p:nvPr/>
        </p:nvSpPr>
        <p:spPr>
          <a:xfrm>
            <a:off x="298450" y="3810000"/>
            <a:ext cx="18795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0C674"/>
                </a:solidFill>
                <a:latin typeface="Roboto Mono"/>
                <a:ea typeface="Roboto Mono"/>
                <a:cs typeface="Roboto Mono"/>
                <a:sym typeface="Roboto Mono"/>
              </a:rPr>
              <a:t>PART 1</a:t>
            </a:r>
            <a:endParaRPr b="1" sz="1200">
              <a:solidFill>
                <a:srgbClr val="F0C67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0C674"/>
                </a:solidFill>
                <a:latin typeface="Roboto Mono"/>
                <a:ea typeface="Roboto Mono"/>
                <a:cs typeface="Roboto Mono"/>
                <a:sym typeface="Roboto Mono"/>
              </a:rPr>
              <a:t>Terraform</a:t>
            </a:r>
            <a:endParaRPr b="1" sz="1200">
              <a:solidFill>
                <a:srgbClr val="F0C674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4" name="Google Shape;64;p13"/>
          <p:cNvSpPr/>
          <p:nvPr/>
        </p:nvSpPr>
        <p:spPr>
          <a:xfrm>
            <a:off x="2520950" y="3810000"/>
            <a:ext cx="1879500" cy="812700"/>
          </a:xfrm>
          <a:prstGeom prst="rect">
            <a:avLst/>
          </a:prstGeom>
          <a:solidFill>
            <a:srgbClr val="161B22"/>
          </a:solidFill>
          <a:ln cap="flat" cmpd="sng" w="1905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3"/>
          <p:cNvSpPr txBox="1"/>
          <p:nvPr/>
        </p:nvSpPr>
        <p:spPr>
          <a:xfrm>
            <a:off x="2520950" y="3810000"/>
            <a:ext cx="18795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58A6FF"/>
                </a:solidFill>
                <a:latin typeface="Roboto Mono"/>
                <a:ea typeface="Roboto Mono"/>
                <a:cs typeface="Roboto Mono"/>
                <a:sym typeface="Roboto Mono"/>
              </a:rPr>
              <a:t>PART 2</a:t>
            </a:r>
            <a:endParaRPr b="1" sz="1200">
              <a:solidFill>
                <a:srgbClr val="58A6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58A6FF"/>
                </a:solidFill>
                <a:latin typeface="Roboto Mono"/>
                <a:ea typeface="Roboto Mono"/>
                <a:cs typeface="Roboto Mono"/>
                <a:sym typeface="Roboto Mono"/>
              </a:rPr>
              <a:t>Ansible</a:t>
            </a:r>
            <a:endParaRPr b="1" sz="1200">
              <a:solidFill>
                <a:srgbClr val="58A6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6" name="Google Shape;66;p13"/>
          <p:cNvSpPr/>
          <p:nvPr/>
        </p:nvSpPr>
        <p:spPr>
          <a:xfrm>
            <a:off x="4743450" y="3810000"/>
            <a:ext cx="1879500" cy="812700"/>
          </a:xfrm>
          <a:prstGeom prst="rect">
            <a:avLst/>
          </a:prstGeom>
          <a:solidFill>
            <a:srgbClr val="161B22"/>
          </a:solidFill>
          <a:ln cap="flat" cmpd="sng" w="1905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3"/>
          <p:cNvSpPr txBox="1"/>
          <p:nvPr/>
        </p:nvSpPr>
        <p:spPr>
          <a:xfrm>
            <a:off x="4743450" y="3810000"/>
            <a:ext cx="18795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3FB950"/>
                </a:solidFill>
                <a:latin typeface="Roboto Mono"/>
                <a:ea typeface="Roboto Mono"/>
                <a:cs typeface="Roboto Mono"/>
                <a:sym typeface="Roboto Mono"/>
              </a:rPr>
              <a:t>PART 3</a:t>
            </a:r>
            <a:endParaRPr b="1" sz="1200">
              <a:solidFill>
                <a:srgbClr val="3FB95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3FB950"/>
                </a:solidFill>
                <a:latin typeface="Roboto Mono"/>
                <a:ea typeface="Roboto Mono"/>
                <a:cs typeface="Roboto Mono"/>
                <a:sym typeface="Roboto Mono"/>
              </a:rPr>
              <a:t>Docker</a:t>
            </a:r>
            <a:endParaRPr b="1" sz="1200">
              <a:solidFill>
                <a:srgbClr val="3FB95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8" name="Google Shape;68;p13"/>
          <p:cNvSpPr/>
          <p:nvPr/>
        </p:nvSpPr>
        <p:spPr>
          <a:xfrm>
            <a:off x="6965950" y="3810000"/>
            <a:ext cx="1879500" cy="812700"/>
          </a:xfrm>
          <a:prstGeom prst="rect">
            <a:avLst/>
          </a:prstGeom>
          <a:solidFill>
            <a:srgbClr val="161B22"/>
          </a:solidFill>
          <a:ln cap="flat" cmpd="sng" w="1905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3"/>
          <p:cNvSpPr txBox="1"/>
          <p:nvPr/>
        </p:nvSpPr>
        <p:spPr>
          <a:xfrm>
            <a:off x="6965950" y="3810000"/>
            <a:ext cx="18795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BC8CFF"/>
                </a:solidFill>
                <a:latin typeface="Roboto Mono"/>
                <a:ea typeface="Roboto Mono"/>
                <a:cs typeface="Roboto Mono"/>
                <a:sym typeface="Roboto Mono"/>
              </a:rPr>
              <a:t>PART 4</a:t>
            </a:r>
            <a:endParaRPr b="1" sz="1200">
              <a:solidFill>
                <a:srgbClr val="BC8C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BC8CFF"/>
                </a:solidFill>
                <a:latin typeface="Roboto Mono"/>
                <a:ea typeface="Roboto Mono"/>
                <a:cs typeface="Roboto Mono"/>
                <a:sym typeface="Roboto Mono"/>
              </a:rPr>
              <a:t>CI/CD</a:t>
            </a:r>
            <a:endParaRPr b="1" sz="1200">
              <a:solidFill>
                <a:srgbClr val="BC8C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4"/>
          <p:cNvSpPr txBox="1"/>
          <p:nvPr/>
        </p:nvSpPr>
        <p:spPr>
          <a:xfrm>
            <a:off x="254000" y="127000"/>
            <a:ext cx="5079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58A6FF"/>
                </a:solidFill>
                <a:latin typeface="Roboto Mono"/>
                <a:ea typeface="Roboto Mono"/>
                <a:cs typeface="Roboto Mono"/>
                <a:sym typeface="Roboto Mono"/>
              </a:rPr>
              <a:t>OVERVIEW</a:t>
            </a:r>
            <a:endParaRPr b="1" sz="900">
              <a:solidFill>
                <a:srgbClr val="58A6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76" name="Google Shape;76;p14"/>
          <p:cNvSpPr txBox="1"/>
          <p:nvPr/>
        </p:nvSpPr>
        <p:spPr>
          <a:xfrm>
            <a:off x="254000" y="177800"/>
            <a:ext cx="86361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Project Overview</a:t>
            </a:r>
            <a:endParaRPr b="1" sz="26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77" name="Google Shape;77;p14"/>
          <p:cNvCxnSpPr/>
          <p:nvPr/>
        </p:nvCxnSpPr>
        <p:spPr>
          <a:xfrm>
            <a:off x="254000" y="685800"/>
            <a:ext cx="8636100" cy="0"/>
          </a:xfrm>
          <a:prstGeom prst="straightConnector1">
            <a:avLst/>
          </a:prstGeom>
          <a:noFill/>
          <a:ln cap="flat" cmpd="sng" w="12700">
            <a:solidFill>
              <a:srgbClr val="1F293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" name="Google Shape;78;p14"/>
          <p:cNvSpPr txBox="1"/>
          <p:nvPr/>
        </p:nvSpPr>
        <p:spPr>
          <a:xfrm>
            <a:off x="254000" y="762000"/>
            <a:ext cx="86361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Goal: Automate the full deployment lifecycle of a web application on Microsoft Azure</a:t>
            </a:r>
            <a:endParaRPr sz="1200">
              <a:solidFill>
                <a:srgbClr val="E6EDF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79" name="Google Shape;79;p14"/>
          <p:cNvSpPr/>
          <p:nvPr/>
        </p:nvSpPr>
        <p:spPr>
          <a:xfrm>
            <a:off x="254000" y="1270000"/>
            <a:ext cx="2070000" cy="2031900"/>
          </a:xfrm>
          <a:prstGeom prst="rect">
            <a:avLst/>
          </a:prstGeom>
          <a:solidFill>
            <a:srgbClr val="161B22"/>
          </a:solidFill>
          <a:ln cap="flat" cmpd="sng" w="19050">
            <a:solidFill>
              <a:srgbClr val="F0C6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4"/>
          <p:cNvSpPr txBox="1"/>
          <p:nvPr/>
        </p:nvSpPr>
        <p:spPr>
          <a:xfrm>
            <a:off x="254000" y="1346200"/>
            <a:ext cx="2070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01</a:t>
            </a:r>
            <a:endParaRPr sz="9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81" name="Google Shape;81;p14"/>
          <p:cNvSpPr txBox="1"/>
          <p:nvPr/>
        </p:nvSpPr>
        <p:spPr>
          <a:xfrm>
            <a:off x="254000" y="1600200"/>
            <a:ext cx="207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0C674"/>
                </a:solidFill>
                <a:latin typeface="Google Sans"/>
                <a:ea typeface="Google Sans"/>
                <a:cs typeface="Google Sans"/>
                <a:sym typeface="Google Sans"/>
              </a:rPr>
              <a:t>Provision</a:t>
            </a:r>
            <a:endParaRPr b="1" sz="1300">
              <a:solidFill>
                <a:srgbClr val="F0C674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82" name="Google Shape;82;p14"/>
          <p:cNvCxnSpPr/>
          <p:nvPr/>
        </p:nvCxnSpPr>
        <p:spPr>
          <a:xfrm>
            <a:off x="254000" y="2006600"/>
            <a:ext cx="2057700" cy="0"/>
          </a:xfrm>
          <a:prstGeom prst="straightConnector1">
            <a:avLst/>
          </a:prstGeom>
          <a:noFill/>
          <a:ln cap="flat" cmpd="sng" w="12700">
            <a:solidFill>
              <a:srgbClr val="F0C67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" name="Google Shape;83;p14"/>
          <p:cNvSpPr txBox="1"/>
          <p:nvPr/>
        </p:nvSpPr>
        <p:spPr>
          <a:xfrm>
            <a:off x="355600" y="2095500"/>
            <a:ext cx="1866900" cy="11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Create cloud infrastructure</a:t>
            </a:r>
            <a:endParaRPr sz="1000">
              <a:solidFill>
                <a:srgbClr val="E6EDF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using Terraform on Azure</a:t>
            </a:r>
            <a:endParaRPr sz="1000">
              <a:solidFill>
                <a:srgbClr val="E6EDF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84" name="Google Shape;84;p14"/>
          <p:cNvSpPr/>
          <p:nvPr/>
        </p:nvSpPr>
        <p:spPr>
          <a:xfrm>
            <a:off x="2387600" y="1270000"/>
            <a:ext cx="2070000" cy="2031900"/>
          </a:xfrm>
          <a:prstGeom prst="rect">
            <a:avLst/>
          </a:prstGeom>
          <a:solidFill>
            <a:srgbClr val="161B22"/>
          </a:solidFill>
          <a:ln cap="flat" cmpd="sng" w="1905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4"/>
          <p:cNvSpPr txBox="1"/>
          <p:nvPr/>
        </p:nvSpPr>
        <p:spPr>
          <a:xfrm>
            <a:off x="2387600" y="1346200"/>
            <a:ext cx="2070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02</a:t>
            </a:r>
            <a:endParaRPr sz="9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86" name="Google Shape;86;p14"/>
          <p:cNvSpPr txBox="1"/>
          <p:nvPr/>
        </p:nvSpPr>
        <p:spPr>
          <a:xfrm>
            <a:off x="2387600" y="1600200"/>
            <a:ext cx="207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58A6FF"/>
                </a:solidFill>
                <a:latin typeface="Google Sans"/>
                <a:ea typeface="Google Sans"/>
                <a:cs typeface="Google Sans"/>
                <a:sym typeface="Google Sans"/>
              </a:rPr>
              <a:t>Configure</a:t>
            </a:r>
            <a:endParaRPr b="1" sz="1300">
              <a:solidFill>
                <a:srgbClr val="58A6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87" name="Google Shape;87;p14"/>
          <p:cNvCxnSpPr/>
          <p:nvPr/>
        </p:nvCxnSpPr>
        <p:spPr>
          <a:xfrm>
            <a:off x="2392600" y="2006600"/>
            <a:ext cx="2063100" cy="0"/>
          </a:xfrm>
          <a:prstGeom prst="straightConnector1">
            <a:avLst/>
          </a:prstGeom>
          <a:noFill/>
          <a:ln cap="flat" cmpd="sng" w="12700">
            <a:solidFill>
              <a:srgbClr val="58A6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" name="Google Shape;88;p14"/>
          <p:cNvSpPr txBox="1"/>
          <p:nvPr/>
        </p:nvSpPr>
        <p:spPr>
          <a:xfrm>
            <a:off x="2489200" y="2095500"/>
            <a:ext cx="1866900" cy="11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Install Docker on VM</a:t>
            </a:r>
            <a:endParaRPr sz="1000">
              <a:solidFill>
                <a:srgbClr val="E6EDF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using Ansible over SSH</a:t>
            </a:r>
            <a:endParaRPr sz="1000">
              <a:solidFill>
                <a:srgbClr val="E6EDF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89" name="Google Shape;89;p14"/>
          <p:cNvSpPr/>
          <p:nvPr/>
        </p:nvSpPr>
        <p:spPr>
          <a:xfrm>
            <a:off x="4521200" y="1270000"/>
            <a:ext cx="2070000" cy="2031900"/>
          </a:xfrm>
          <a:prstGeom prst="rect">
            <a:avLst/>
          </a:prstGeom>
          <a:solidFill>
            <a:srgbClr val="161B22"/>
          </a:solidFill>
          <a:ln cap="flat" cmpd="sng" w="1905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4"/>
          <p:cNvSpPr txBox="1"/>
          <p:nvPr/>
        </p:nvSpPr>
        <p:spPr>
          <a:xfrm>
            <a:off x="4521200" y="1346200"/>
            <a:ext cx="2070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03</a:t>
            </a:r>
            <a:endParaRPr sz="9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91" name="Google Shape;91;p14"/>
          <p:cNvSpPr txBox="1"/>
          <p:nvPr/>
        </p:nvSpPr>
        <p:spPr>
          <a:xfrm>
            <a:off x="4521200" y="1600200"/>
            <a:ext cx="207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3FB950"/>
                </a:solidFill>
                <a:latin typeface="Google Sans"/>
                <a:ea typeface="Google Sans"/>
                <a:cs typeface="Google Sans"/>
                <a:sym typeface="Google Sans"/>
              </a:rPr>
              <a:t>Containerise</a:t>
            </a:r>
            <a:endParaRPr b="1" sz="1300">
              <a:solidFill>
                <a:srgbClr val="3FB95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92" name="Google Shape;92;p14"/>
          <p:cNvCxnSpPr/>
          <p:nvPr/>
        </p:nvCxnSpPr>
        <p:spPr>
          <a:xfrm>
            <a:off x="4518900" y="2006600"/>
            <a:ext cx="2061600" cy="0"/>
          </a:xfrm>
          <a:prstGeom prst="straightConnector1">
            <a:avLst/>
          </a:prstGeom>
          <a:noFill/>
          <a:ln cap="flat" cmpd="sng" w="12700">
            <a:solidFill>
              <a:srgbClr val="3FB95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" name="Google Shape;93;p14"/>
          <p:cNvSpPr txBox="1"/>
          <p:nvPr/>
        </p:nvSpPr>
        <p:spPr>
          <a:xfrm>
            <a:off x="4622800" y="2095500"/>
            <a:ext cx="1866900" cy="11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Package app with Docker</a:t>
            </a:r>
            <a:endParaRPr sz="1000">
              <a:solidFill>
                <a:srgbClr val="E6EDF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serve with Nginx on port 8080</a:t>
            </a:r>
            <a:endParaRPr sz="1000">
              <a:solidFill>
                <a:srgbClr val="E6EDF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94" name="Google Shape;94;p14"/>
          <p:cNvSpPr/>
          <p:nvPr/>
        </p:nvSpPr>
        <p:spPr>
          <a:xfrm>
            <a:off x="6654800" y="1270000"/>
            <a:ext cx="2070000" cy="2031900"/>
          </a:xfrm>
          <a:prstGeom prst="rect">
            <a:avLst/>
          </a:prstGeom>
          <a:solidFill>
            <a:srgbClr val="161B22"/>
          </a:solidFill>
          <a:ln cap="flat" cmpd="sng" w="1905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6654800" y="1346200"/>
            <a:ext cx="2070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04</a:t>
            </a:r>
            <a:endParaRPr sz="9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6654800" y="1600200"/>
            <a:ext cx="207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BC8CFF"/>
                </a:solidFill>
                <a:latin typeface="Google Sans"/>
                <a:ea typeface="Google Sans"/>
                <a:cs typeface="Google Sans"/>
                <a:sym typeface="Google Sans"/>
              </a:rPr>
              <a:t>Automate</a:t>
            </a:r>
            <a:endParaRPr b="1" sz="1300">
              <a:solidFill>
                <a:srgbClr val="BC8C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97" name="Google Shape;97;p14"/>
          <p:cNvCxnSpPr/>
          <p:nvPr/>
        </p:nvCxnSpPr>
        <p:spPr>
          <a:xfrm>
            <a:off x="6653050" y="2006600"/>
            <a:ext cx="2068500" cy="0"/>
          </a:xfrm>
          <a:prstGeom prst="straightConnector1">
            <a:avLst/>
          </a:prstGeom>
          <a:noFill/>
          <a:ln cap="flat" cmpd="sng" w="12700">
            <a:solidFill>
              <a:srgbClr val="BC8C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" name="Google Shape;98;p14"/>
          <p:cNvSpPr txBox="1"/>
          <p:nvPr/>
        </p:nvSpPr>
        <p:spPr>
          <a:xfrm>
            <a:off x="6756400" y="2095500"/>
            <a:ext cx="1866900" cy="11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Deploy on every git push</a:t>
            </a:r>
            <a:endParaRPr sz="1000">
              <a:solidFill>
                <a:srgbClr val="E6EDF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using GitHub Actions</a:t>
            </a:r>
            <a:endParaRPr sz="1000">
              <a:solidFill>
                <a:srgbClr val="E6EDF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254000" y="3454400"/>
            <a:ext cx="8636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Azure Student Subscription  |  Norway East Region  |  Ubuntu 24.04 LTS</a:t>
            </a:r>
            <a:endParaRPr i="1" sz="9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8382000" y="4864100"/>
            <a:ext cx="6351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2 / 22</a:t>
            </a:r>
            <a:endParaRPr sz="8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5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39D3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254000" y="127000"/>
            <a:ext cx="5079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39D3C3"/>
                </a:solidFill>
                <a:latin typeface="Roboto Mono"/>
                <a:ea typeface="Roboto Mono"/>
                <a:cs typeface="Roboto Mono"/>
                <a:sym typeface="Roboto Mono"/>
              </a:rPr>
              <a:t>TOOLS</a:t>
            </a:r>
            <a:endParaRPr b="1" sz="900">
              <a:solidFill>
                <a:srgbClr val="39D3C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254000" y="177800"/>
            <a:ext cx="86361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Tools Used</a:t>
            </a:r>
            <a:endParaRPr b="1" sz="26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108" name="Google Shape;108;p15"/>
          <p:cNvCxnSpPr/>
          <p:nvPr/>
        </p:nvCxnSpPr>
        <p:spPr>
          <a:xfrm>
            <a:off x="254000" y="685800"/>
            <a:ext cx="8636100" cy="0"/>
          </a:xfrm>
          <a:prstGeom prst="straightConnector1">
            <a:avLst/>
          </a:prstGeom>
          <a:noFill/>
          <a:ln cap="flat" cmpd="sng" w="12700">
            <a:solidFill>
              <a:srgbClr val="1F293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" name="Google Shape;109;p15"/>
          <p:cNvSpPr/>
          <p:nvPr/>
        </p:nvSpPr>
        <p:spPr>
          <a:xfrm>
            <a:off x="254000" y="812800"/>
            <a:ext cx="63600" cy="787500"/>
          </a:xfrm>
          <a:prstGeom prst="rect">
            <a:avLst/>
          </a:prstGeom>
          <a:solidFill>
            <a:srgbClr val="F0C6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5"/>
          <p:cNvSpPr/>
          <p:nvPr/>
        </p:nvSpPr>
        <p:spPr>
          <a:xfrm>
            <a:off x="317500" y="812800"/>
            <a:ext cx="8572500" cy="7875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457200" y="889000"/>
            <a:ext cx="2793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0C674"/>
                </a:solidFill>
                <a:latin typeface="Google Sans"/>
                <a:ea typeface="Google Sans"/>
                <a:cs typeface="Google Sans"/>
                <a:sym typeface="Google Sans"/>
              </a:rPr>
              <a:t>Terraform</a:t>
            </a:r>
            <a:endParaRPr b="1">
              <a:solidFill>
                <a:srgbClr val="F0C674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457200" y="1244600"/>
            <a:ext cx="2793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by HashiCorp</a:t>
            </a:r>
            <a:endParaRPr sz="9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3302000" y="1016000"/>
            <a:ext cx="5460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Infrastructure as Code - Cloud resource provisioning</a:t>
            </a:r>
            <a:endParaRPr sz="1100">
              <a:solidFill>
                <a:srgbClr val="E6EDF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254000" y="1727200"/>
            <a:ext cx="63600" cy="7875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5"/>
          <p:cNvSpPr/>
          <p:nvPr/>
        </p:nvSpPr>
        <p:spPr>
          <a:xfrm>
            <a:off x="317500" y="1727200"/>
            <a:ext cx="8572500" cy="7875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457200" y="1803400"/>
            <a:ext cx="2793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58A6FF"/>
                </a:solidFill>
                <a:latin typeface="Google Sans"/>
                <a:ea typeface="Google Sans"/>
                <a:cs typeface="Google Sans"/>
                <a:sym typeface="Google Sans"/>
              </a:rPr>
              <a:t>Ansible</a:t>
            </a:r>
            <a:endParaRPr b="1">
              <a:solidFill>
                <a:srgbClr val="58A6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457200" y="2159000"/>
            <a:ext cx="2793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by Red Hat</a:t>
            </a:r>
            <a:endParaRPr sz="9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3302000" y="1930400"/>
            <a:ext cx="5460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Configuration Management - Agentless automation over SSH</a:t>
            </a:r>
            <a:endParaRPr sz="1100">
              <a:solidFill>
                <a:srgbClr val="E6EDF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254000" y="2641600"/>
            <a:ext cx="63600" cy="7875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5"/>
          <p:cNvSpPr/>
          <p:nvPr/>
        </p:nvSpPr>
        <p:spPr>
          <a:xfrm>
            <a:off x="317500" y="2641600"/>
            <a:ext cx="8572500" cy="7875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457200" y="2717800"/>
            <a:ext cx="2793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FB950"/>
                </a:solidFill>
                <a:latin typeface="Google Sans"/>
                <a:ea typeface="Google Sans"/>
                <a:cs typeface="Google Sans"/>
                <a:sym typeface="Google Sans"/>
              </a:rPr>
              <a:t>Docker + Nginx</a:t>
            </a:r>
            <a:endParaRPr b="1">
              <a:solidFill>
                <a:srgbClr val="3FB95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457200" y="3073400"/>
            <a:ext cx="2793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by Docker Inc</a:t>
            </a:r>
            <a:endParaRPr sz="9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3302000" y="2844800"/>
            <a:ext cx="5460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Containerisation - Isolated portable application runtime</a:t>
            </a:r>
            <a:endParaRPr sz="1100">
              <a:solidFill>
                <a:srgbClr val="E6EDF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254000" y="3556000"/>
            <a:ext cx="63600" cy="787500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5"/>
          <p:cNvSpPr/>
          <p:nvPr/>
        </p:nvSpPr>
        <p:spPr>
          <a:xfrm>
            <a:off x="317500" y="3556000"/>
            <a:ext cx="8572500" cy="7875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457200" y="3632200"/>
            <a:ext cx="2793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BC8CFF"/>
                </a:solidFill>
                <a:latin typeface="Google Sans"/>
                <a:ea typeface="Google Sans"/>
                <a:cs typeface="Google Sans"/>
                <a:sym typeface="Google Sans"/>
              </a:rPr>
              <a:t>GitHub Actions</a:t>
            </a:r>
            <a:endParaRPr b="1">
              <a:solidFill>
                <a:srgbClr val="BC8C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27" name="Google Shape;127;p15"/>
          <p:cNvSpPr txBox="1"/>
          <p:nvPr/>
        </p:nvSpPr>
        <p:spPr>
          <a:xfrm>
            <a:off x="457200" y="3987800"/>
            <a:ext cx="2793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by GitHub</a:t>
            </a:r>
            <a:endParaRPr sz="9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28" name="Google Shape;128;p15"/>
          <p:cNvSpPr txBox="1"/>
          <p:nvPr/>
        </p:nvSpPr>
        <p:spPr>
          <a:xfrm>
            <a:off x="3302000" y="3759200"/>
            <a:ext cx="5460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CI/CD Pipeline - Auto deploy on every code push to main</a:t>
            </a:r>
            <a:endParaRPr sz="1100">
              <a:solidFill>
                <a:srgbClr val="E6EDF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8382000" y="4864100"/>
            <a:ext cx="6351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3 / 22</a:t>
            </a:r>
            <a:endParaRPr sz="8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6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254000" y="127000"/>
            <a:ext cx="5079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58A6FF"/>
                </a:solidFill>
                <a:latin typeface="Roboto Mono"/>
                <a:ea typeface="Roboto Mono"/>
                <a:cs typeface="Roboto Mono"/>
                <a:sym typeface="Roboto Mono"/>
              </a:rPr>
              <a:t>ARCHITECTURE</a:t>
            </a:r>
            <a:endParaRPr b="1" sz="900">
              <a:solidFill>
                <a:srgbClr val="58A6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36" name="Google Shape;136;p16"/>
          <p:cNvSpPr txBox="1"/>
          <p:nvPr/>
        </p:nvSpPr>
        <p:spPr>
          <a:xfrm>
            <a:off x="254000" y="177800"/>
            <a:ext cx="86361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How All 4 Parts Connect</a:t>
            </a:r>
            <a:endParaRPr b="1" sz="24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137" name="Google Shape;137;p16"/>
          <p:cNvCxnSpPr/>
          <p:nvPr/>
        </p:nvCxnSpPr>
        <p:spPr>
          <a:xfrm>
            <a:off x="254000" y="685800"/>
            <a:ext cx="8636100" cy="0"/>
          </a:xfrm>
          <a:prstGeom prst="straightConnector1">
            <a:avLst/>
          </a:prstGeom>
          <a:noFill/>
          <a:ln cap="flat" cmpd="sng" w="12700">
            <a:solidFill>
              <a:srgbClr val="1F293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8" name="Google Shape;138;p16"/>
          <p:cNvSpPr/>
          <p:nvPr/>
        </p:nvSpPr>
        <p:spPr>
          <a:xfrm>
            <a:off x="254000" y="838200"/>
            <a:ext cx="2006700" cy="1524000"/>
          </a:xfrm>
          <a:prstGeom prst="rect">
            <a:avLst/>
          </a:prstGeom>
          <a:solidFill>
            <a:srgbClr val="161B22"/>
          </a:solidFill>
          <a:ln cap="flat" cmpd="sng" w="19050">
            <a:solidFill>
              <a:srgbClr val="F0C6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254000" y="914400"/>
            <a:ext cx="2006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0C674"/>
                </a:solidFill>
                <a:latin typeface="Roboto Mono"/>
                <a:ea typeface="Roboto Mono"/>
                <a:cs typeface="Roboto Mono"/>
                <a:sym typeface="Roboto Mono"/>
              </a:rPr>
              <a:t>PART 1</a:t>
            </a:r>
            <a:endParaRPr b="1" sz="900">
              <a:solidFill>
                <a:srgbClr val="F0C674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40" name="Google Shape;140;p16"/>
          <p:cNvSpPr txBox="1"/>
          <p:nvPr/>
        </p:nvSpPr>
        <p:spPr>
          <a:xfrm>
            <a:off x="254000" y="1168400"/>
            <a:ext cx="2006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Terraform</a:t>
            </a:r>
            <a:endParaRPr b="1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1" name="Google Shape;141;p16"/>
          <p:cNvSpPr txBox="1"/>
          <p:nvPr/>
        </p:nvSpPr>
        <p:spPr>
          <a:xfrm>
            <a:off x="254000" y="1498600"/>
            <a:ext cx="2006700" cy="7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Provision VM</a:t>
            </a:r>
            <a:endParaRPr sz="10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VNet  NSG  IP</a:t>
            </a:r>
            <a:endParaRPr sz="10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42" name="Google Shape;142;p16"/>
          <p:cNvSpPr txBox="1"/>
          <p:nvPr/>
        </p:nvSpPr>
        <p:spPr>
          <a:xfrm>
            <a:off x="2311400" y="1473200"/>
            <a:ext cx="3555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→</a:t>
            </a:r>
            <a:endParaRPr sz="18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2463800" y="838200"/>
            <a:ext cx="2006700" cy="1524000"/>
          </a:xfrm>
          <a:prstGeom prst="rect">
            <a:avLst/>
          </a:prstGeom>
          <a:solidFill>
            <a:srgbClr val="161B22"/>
          </a:solidFill>
          <a:ln cap="flat" cmpd="sng" w="1905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2463800" y="914400"/>
            <a:ext cx="2006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58A6FF"/>
                </a:solidFill>
                <a:latin typeface="Roboto Mono"/>
                <a:ea typeface="Roboto Mono"/>
                <a:cs typeface="Roboto Mono"/>
                <a:sym typeface="Roboto Mono"/>
              </a:rPr>
              <a:t>PART 2</a:t>
            </a:r>
            <a:endParaRPr b="1" sz="900">
              <a:solidFill>
                <a:srgbClr val="58A6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45" name="Google Shape;145;p16"/>
          <p:cNvSpPr txBox="1"/>
          <p:nvPr/>
        </p:nvSpPr>
        <p:spPr>
          <a:xfrm>
            <a:off x="2463800" y="1168400"/>
            <a:ext cx="2006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Ansible</a:t>
            </a:r>
            <a:endParaRPr b="1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6" name="Google Shape;146;p16"/>
          <p:cNvSpPr txBox="1"/>
          <p:nvPr/>
        </p:nvSpPr>
        <p:spPr>
          <a:xfrm>
            <a:off x="2463800" y="1498600"/>
            <a:ext cx="2006700" cy="7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Install Docker</a:t>
            </a:r>
            <a:endParaRPr sz="10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/opt/app</a:t>
            </a:r>
            <a:endParaRPr sz="10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47" name="Google Shape;147;p16"/>
          <p:cNvSpPr txBox="1"/>
          <p:nvPr/>
        </p:nvSpPr>
        <p:spPr>
          <a:xfrm>
            <a:off x="4521200" y="1473200"/>
            <a:ext cx="3555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→</a:t>
            </a:r>
            <a:endParaRPr sz="18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4673600" y="838200"/>
            <a:ext cx="2006700" cy="1524000"/>
          </a:xfrm>
          <a:prstGeom prst="rect">
            <a:avLst/>
          </a:prstGeom>
          <a:solidFill>
            <a:srgbClr val="161B22"/>
          </a:solidFill>
          <a:ln cap="flat" cmpd="sng" w="1905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4673600" y="914400"/>
            <a:ext cx="2006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3FB950"/>
                </a:solidFill>
                <a:latin typeface="Roboto Mono"/>
                <a:ea typeface="Roboto Mono"/>
                <a:cs typeface="Roboto Mono"/>
                <a:sym typeface="Roboto Mono"/>
              </a:rPr>
              <a:t>PART 3</a:t>
            </a:r>
            <a:endParaRPr b="1" sz="900">
              <a:solidFill>
                <a:srgbClr val="3FB95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0" name="Google Shape;150;p16"/>
          <p:cNvSpPr txBox="1"/>
          <p:nvPr/>
        </p:nvSpPr>
        <p:spPr>
          <a:xfrm>
            <a:off x="4673600" y="1168400"/>
            <a:ext cx="2006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Docker</a:t>
            </a:r>
            <a:endParaRPr b="1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1" name="Google Shape;151;p16"/>
          <p:cNvSpPr txBox="1"/>
          <p:nvPr/>
        </p:nvSpPr>
        <p:spPr>
          <a:xfrm>
            <a:off x="4673600" y="1498600"/>
            <a:ext cx="2006700" cy="7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Build image</a:t>
            </a:r>
            <a:endParaRPr sz="10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Run container</a:t>
            </a:r>
            <a:endParaRPr sz="10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2" name="Google Shape;152;p16"/>
          <p:cNvSpPr txBox="1"/>
          <p:nvPr/>
        </p:nvSpPr>
        <p:spPr>
          <a:xfrm>
            <a:off x="6731000" y="1473200"/>
            <a:ext cx="3555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→</a:t>
            </a:r>
            <a:endParaRPr sz="18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3" name="Google Shape;153;p16"/>
          <p:cNvSpPr/>
          <p:nvPr/>
        </p:nvSpPr>
        <p:spPr>
          <a:xfrm>
            <a:off x="6883400" y="838200"/>
            <a:ext cx="2006700" cy="1524000"/>
          </a:xfrm>
          <a:prstGeom prst="rect">
            <a:avLst/>
          </a:prstGeom>
          <a:solidFill>
            <a:srgbClr val="161B22"/>
          </a:solidFill>
          <a:ln cap="flat" cmpd="sng" w="1905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6883400" y="914400"/>
            <a:ext cx="2006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BC8CFF"/>
                </a:solidFill>
                <a:latin typeface="Roboto Mono"/>
                <a:ea typeface="Roboto Mono"/>
                <a:cs typeface="Roboto Mono"/>
                <a:sym typeface="Roboto Mono"/>
              </a:rPr>
              <a:t>PART 4</a:t>
            </a:r>
            <a:endParaRPr b="1" sz="900">
              <a:solidFill>
                <a:srgbClr val="BC8C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5" name="Google Shape;155;p16"/>
          <p:cNvSpPr txBox="1"/>
          <p:nvPr/>
        </p:nvSpPr>
        <p:spPr>
          <a:xfrm>
            <a:off x="6883400" y="1168400"/>
            <a:ext cx="2006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CI/CD</a:t>
            </a:r>
            <a:endParaRPr b="1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6" name="Google Shape;156;p16"/>
          <p:cNvSpPr txBox="1"/>
          <p:nvPr/>
        </p:nvSpPr>
        <p:spPr>
          <a:xfrm>
            <a:off x="6883400" y="1498600"/>
            <a:ext cx="2006700" cy="7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Auto deploy</a:t>
            </a:r>
            <a:endParaRPr sz="10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on push</a:t>
            </a:r>
            <a:endParaRPr sz="10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7" name="Google Shape;157;p16"/>
          <p:cNvSpPr txBox="1"/>
          <p:nvPr/>
        </p:nvSpPr>
        <p:spPr>
          <a:xfrm>
            <a:off x="254000" y="2540000"/>
            <a:ext cx="86361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9D3C3"/>
                </a:solidFill>
                <a:latin typeface="Roboto Mono"/>
                <a:ea typeface="Roboto Mono"/>
                <a:cs typeface="Roboto Mono"/>
                <a:sym typeface="Roboto Mono"/>
              </a:rPr>
              <a:t>git push  →  GitHub Actions runner  →  Ansible  →  Azure VM  →  Docker  →  Live App ✓</a:t>
            </a:r>
            <a:endParaRPr sz="1000">
              <a:solidFill>
                <a:srgbClr val="39D3C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8" name="Google Shape;158;p16"/>
          <p:cNvSpPr/>
          <p:nvPr/>
        </p:nvSpPr>
        <p:spPr>
          <a:xfrm>
            <a:off x="254000" y="2946400"/>
            <a:ext cx="8636100" cy="1143000"/>
          </a:xfrm>
          <a:prstGeom prst="rect">
            <a:avLst/>
          </a:prstGeom>
          <a:solidFill>
            <a:srgbClr val="161B22"/>
          </a:solidFill>
          <a:ln cap="flat" cmpd="sng" w="1905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431800" y="30480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58A6FF"/>
                </a:solidFill>
                <a:latin typeface="Roboto Mono"/>
                <a:ea typeface="Roboto Mono"/>
                <a:cs typeface="Roboto Mono"/>
                <a:sym typeface="Roboto Mono"/>
              </a:rPr>
              <a:t>Key Integration Principle</a:t>
            </a:r>
            <a:endParaRPr b="1" sz="1000">
              <a:solidFill>
                <a:srgbClr val="58A6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60" name="Google Shape;160;p16"/>
          <p:cNvSpPr txBox="1"/>
          <p:nvPr/>
        </p:nvSpPr>
        <p:spPr>
          <a:xfrm>
            <a:off x="431800" y="3302000"/>
            <a:ext cx="83313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ansible/deploy.yml is the single source of truth for all deployment logic.</a:t>
            </a:r>
            <a:endParaRPr sz="1000">
              <a:solidFill>
                <a:srgbClr val="E6EDF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Part 3 wrote it - Part 4 reuses it directly. No duplication across the pipeline.</a:t>
            </a:r>
            <a:endParaRPr sz="1000">
              <a:solidFill>
                <a:srgbClr val="E6EDF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Each part builds on what the previous part produced.</a:t>
            </a:r>
            <a:endParaRPr sz="1000">
              <a:solidFill>
                <a:srgbClr val="E6EDF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61" name="Google Shape;161;p16"/>
          <p:cNvSpPr txBox="1"/>
          <p:nvPr/>
        </p:nvSpPr>
        <p:spPr>
          <a:xfrm>
            <a:off x="8382000" y="4864100"/>
            <a:ext cx="6351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4 / 22</a:t>
            </a:r>
            <a:endParaRPr sz="8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7"/>
          <p:cNvSpPr/>
          <p:nvPr/>
        </p:nvSpPr>
        <p:spPr>
          <a:xfrm>
            <a:off x="0" y="0"/>
            <a:ext cx="9144000" cy="101700"/>
          </a:xfrm>
          <a:prstGeom prst="rect">
            <a:avLst/>
          </a:prstGeom>
          <a:solidFill>
            <a:srgbClr val="F0C6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254000" y="355600"/>
            <a:ext cx="86361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0C674"/>
                </a:solidFill>
                <a:latin typeface="Roboto Mono"/>
                <a:ea typeface="Roboto Mono"/>
                <a:cs typeface="Roboto Mono"/>
                <a:sym typeface="Roboto Mono"/>
              </a:rPr>
              <a:t>PART 1</a:t>
            </a:r>
            <a:endParaRPr b="1" sz="1000">
              <a:solidFill>
                <a:srgbClr val="F0C674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68" name="Google Shape;168;p17"/>
          <p:cNvSpPr txBox="1"/>
          <p:nvPr/>
        </p:nvSpPr>
        <p:spPr>
          <a:xfrm>
            <a:off x="254000" y="787400"/>
            <a:ext cx="86361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Infrastructure Setup</a:t>
            </a:r>
            <a:endParaRPr b="1" sz="38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69" name="Google Shape;169;p17"/>
          <p:cNvSpPr txBox="1"/>
          <p:nvPr/>
        </p:nvSpPr>
        <p:spPr>
          <a:xfrm>
            <a:off x="254000" y="1549400"/>
            <a:ext cx="86361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0C674"/>
                </a:solidFill>
                <a:latin typeface="Roboto Mono"/>
                <a:ea typeface="Roboto Mono"/>
                <a:cs typeface="Roboto Mono"/>
                <a:sym typeface="Roboto Mono"/>
              </a:rPr>
              <a:t>Tool: Terraform by HashiCorp</a:t>
            </a:r>
            <a:endParaRPr sz="1300">
              <a:solidFill>
                <a:srgbClr val="F0C674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170" name="Google Shape;170;p17"/>
          <p:cNvCxnSpPr/>
          <p:nvPr/>
        </p:nvCxnSpPr>
        <p:spPr>
          <a:xfrm>
            <a:off x="254000" y="2006600"/>
            <a:ext cx="8636100" cy="0"/>
          </a:xfrm>
          <a:prstGeom prst="straightConnector1">
            <a:avLst/>
          </a:prstGeom>
          <a:noFill/>
          <a:ln cap="flat" cmpd="sng" w="12700">
            <a:solidFill>
              <a:srgbClr val="F0C67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1" name="Google Shape;171;p17"/>
          <p:cNvSpPr txBox="1"/>
          <p:nvPr/>
        </p:nvSpPr>
        <p:spPr>
          <a:xfrm>
            <a:off x="508000" y="2159000"/>
            <a:ext cx="81279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Define cloud infrastructure in code - provision and destroy with a single command.</a:t>
            </a:r>
            <a:endParaRPr sz="1200">
              <a:solidFill>
                <a:srgbClr val="E6EDF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Version controlled. Repeatable. No human error from manual portal clicks.</a:t>
            </a:r>
            <a:endParaRPr sz="1200">
              <a:solidFill>
                <a:srgbClr val="E6EDF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72" name="Google Shape;172;p17"/>
          <p:cNvSpPr txBox="1"/>
          <p:nvPr/>
        </p:nvSpPr>
        <p:spPr>
          <a:xfrm>
            <a:off x="254000" y="3098800"/>
            <a:ext cx="86361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Used by Netflix  ·  Uber  ·  Slack  ·  JP Morgan Chase</a:t>
            </a:r>
            <a:endParaRPr i="1" sz="10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73" name="Google Shape;173;p17"/>
          <p:cNvSpPr txBox="1"/>
          <p:nvPr/>
        </p:nvSpPr>
        <p:spPr>
          <a:xfrm>
            <a:off x="8382000" y="4864100"/>
            <a:ext cx="6351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5 / 22</a:t>
            </a:r>
            <a:endParaRPr sz="8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8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F0C6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254000" y="127000"/>
            <a:ext cx="5079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0C674"/>
                </a:solidFill>
                <a:latin typeface="Roboto Mono"/>
                <a:ea typeface="Roboto Mono"/>
                <a:cs typeface="Roboto Mono"/>
                <a:sym typeface="Roboto Mono"/>
              </a:rPr>
              <a:t>PART 1  -  TERRAFORM</a:t>
            </a:r>
            <a:endParaRPr b="1" sz="900">
              <a:solidFill>
                <a:srgbClr val="F0C674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80" name="Google Shape;180;p18"/>
          <p:cNvSpPr txBox="1"/>
          <p:nvPr/>
        </p:nvSpPr>
        <p:spPr>
          <a:xfrm>
            <a:off x="254000" y="177800"/>
            <a:ext cx="86361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What is Infrastructure as Code?</a:t>
            </a:r>
            <a:endParaRPr b="1" sz="22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181" name="Google Shape;181;p18"/>
          <p:cNvCxnSpPr/>
          <p:nvPr/>
        </p:nvCxnSpPr>
        <p:spPr>
          <a:xfrm>
            <a:off x="254000" y="685800"/>
            <a:ext cx="8636100" cy="0"/>
          </a:xfrm>
          <a:prstGeom prst="straightConnector1">
            <a:avLst/>
          </a:prstGeom>
          <a:noFill/>
          <a:ln cap="flat" cmpd="sng" w="12700">
            <a:solidFill>
              <a:srgbClr val="1F293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2" name="Google Shape;182;p18"/>
          <p:cNvSpPr/>
          <p:nvPr/>
        </p:nvSpPr>
        <p:spPr>
          <a:xfrm>
            <a:off x="254000" y="787400"/>
            <a:ext cx="8636100" cy="762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8"/>
          <p:cNvSpPr/>
          <p:nvPr/>
        </p:nvSpPr>
        <p:spPr>
          <a:xfrm>
            <a:off x="254000" y="787400"/>
            <a:ext cx="558900" cy="762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254000" y="787400"/>
            <a:ext cx="5589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85149"/>
                </a:solidFill>
                <a:latin typeface="Roboto Mono"/>
                <a:ea typeface="Roboto Mono"/>
                <a:cs typeface="Roboto Mono"/>
                <a:sym typeface="Roboto Mono"/>
              </a:rPr>
              <a:t>✗</a:t>
            </a:r>
            <a:endParaRPr sz="2000">
              <a:solidFill>
                <a:srgbClr val="F85149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85" name="Google Shape;185;p18"/>
          <p:cNvSpPr txBox="1"/>
          <p:nvPr/>
        </p:nvSpPr>
        <p:spPr>
          <a:xfrm>
            <a:off x="939800" y="863600"/>
            <a:ext cx="2540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85149"/>
                </a:solidFill>
                <a:latin typeface="Roboto Mono"/>
                <a:ea typeface="Roboto Mono"/>
                <a:cs typeface="Roboto Mono"/>
                <a:sym typeface="Roboto Mono"/>
              </a:rPr>
              <a:t>Without IaC</a:t>
            </a:r>
            <a:endParaRPr b="1" sz="1100">
              <a:solidFill>
                <a:srgbClr val="F85149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86" name="Google Shape;186;p18"/>
          <p:cNvSpPr txBox="1"/>
          <p:nvPr/>
        </p:nvSpPr>
        <p:spPr>
          <a:xfrm>
            <a:off x="939800" y="1168400"/>
            <a:ext cx="78231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Click through Azure Portal manually - easy to miss steps, no record of changes</a:t>
            </a:r>
            <a:endParaRPr sz="1000">
              <a:solidFill>
                <a:srgbClr val="E6EDF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87" name="Google Shape;187;p18"/>
          <p:cNvSpPr/>
          <p:nvPr/>
        </p:nvSpPr>
        <p:spPr>
          <a:xfrm>
            <a:off x="254000" y="1676400"/>
            <a:ext cx="8636100" cy="762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8"/>
          <p:cNvSpPr/>
          <p:nvPr/>
        </p:nvSpPr>
        <p:spPr>
          <a:xfrm>
            <a:off x="254000" y="1676400"/>
            <a:ext cx="558900" cy="762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254000" y="1676400"/>
            <a:ext cx="5589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3FB950"/>
                </a:solidFill>
                <a:latin typeface="Roboto Mono"/>
                <a:ea typeface="Roboto Mono"/>
                <a:cs typeface="Roboto Mono"/>
                <a:sym typeface="Roboto Mono"/>
              </a:rPr>
              <a:t>✓</a:t>
            </a:r>
            <a:endParaRPr sz="2000">
              <a:solidFill>
                <a:srgbClr val="3FB95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90" name="Google Shape;190;p18"/>
          <p:cNvSpPr txBox="1"/>
          <p:nvPr/>
        </p:nvSpPr>
        <p:spPr>
          <a:xfrm>
            <a:off x="939800" y="1752600"/>
            <a:ext cx="2540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3FB950"/>
                </a:solidFill>
                <a:latin typeface="Roboto Mono"/>
                <a:ea typeface="Roboto Mono"/>
                <a:cs typeface="Roboto Mono"/>
                <a:sym typeface="Roboto Mono"/>
              </a:rPr>
              <a:t>With IaC</a:t>
            </a:r>
            <a:endParaRPr b="1" sz="1100">
              <a:solidFill>
                <a:srgbClr val="3FB95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91" name="Google Shape;191;p18"/>
          <p:cNvSpPr txBox="1"/>
          <p:nvPr/>
        </p:nvSpPr>
        <p:spPr>
          <a:xfrm>
            <a:off x="939800" y="2057400"/>
            <a:ext cx="78231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Define everything in .tf files - run terraform apply same result every time</a:t>
            </a:r>
            <a:endParaRPr sz="1000">
              <a:solidFill>
                <a:srgbClr val="E6EDF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254000" y="2565400"/>
            <a:ext cx="8636100" cy="762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8"/>
          <p:cNvSpPr/>
          <p:nvPr/>
        </p:nvSpPr>
        <p:spPr>
          <a:xfrm>
            <a:off x="254000" y="2565400"/>
            <a:ext cx="558900" cy="762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254000" y="2565400"/>
            <a:ext cx="5589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58A6FF"/>
                </a:solidFill>
                <a:latin typeface="Roboto Mono"/>
                <a:ea typeface="Roboto Mono"/>
                <a:cs typeface="Roboto Mono"/>
                <a:sym typeface="Roboto Mono"/>
              </a:rPr>
              <a:t>⌥</a:t>
            </a:r>
            <a:endParaRPr sz="2000">
              <a:solidFill>
                <a:srgbClr val="58A6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95" name="Google Shape;195;p18"/>
          <p:cNvSpPr txBox="1"/>
          <p:nvPr/>
        </p:nvSpPr>
        <p:spPr>
          <a:xfrm>
            <a:off x="939800" y="2641600"/>
            <a:ext cx="2540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58A6FF"/>
                </a:solidFill>
                <a:latin typeface="Roboto Mono"/>
                <a:ea typeface="Roboto Mono"/>
                <a:cs typeface="Roboto Mono"/>
                <a:sym typeface="Roboto Mono"/>
              </a:rPr>
              <a:t>Version Control</a:t>
            </a:r>
            <a:endParaRPr b="1" sz="1100">
              <a:solidFill>
                <a:srgbClr val="58A6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96" name="Google Shape;196;p18"/>
          <p:cNvSpPr txBox="1"/>
          <p:nvPr/>
        </p:nvSpPr>
        <p:spPr>
          <a:xfrm>
            <a:off x="939800" y="2946400"/>
            <a:ext cx="78231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Store in GitHub - teams review, revert and collaborate on infrastructure</a:t>
            </a:r>
            <a:endParaRPr sz="1000">
              <a:solidFill>
                <a:srgbClr val="E6EDF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97" name="Google Shape;197;p18"/>
          <p:cNvSpPr/>
          <p:nvPr/>
        </p:nvSpPr>
        <p:spPr>
          <a:xfrm>
            <a:off x="254000" y="3454400"/>
            <a:ext cx="8636100" cy="762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8"/>
          <p:cNvSpPr/>
          <p:nvPr/>
        </p:nvSpPr>
        <p:spPr>
          <a:xfrm>
            <a:off x="254000" y="3454400"/>
            <a:ext cx="558900" cy="762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8"/>
          <p:cNvSpPr txBox="1"/>
          <p:nvPr/>
        </p:nvSpPr>
        <p:spPr>
          <a:xfrm>
            <a:off x="254000" y="3454400"/>
            <a:ext cx="5589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39D3C3"/>
                </a:solidFill>
                <a:latin typeface="Roboto Mono"/>
                <a:ea typeface="Roboto Mono"/>
                <a:cs typeface="Roboto Mono"/>
                <a:sym typeface="Roboto Mono"/>
              </a:rPr>
              <a:t>⟳</a:t>
            </a:r>
            <a:endParaRPr sz="2000">
              <a:solidFill>
                <a:srgbClr val="39D3C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00" name="Google Shape;200;p18"/>
          <p:cNvSpPr txBox="1"/>
          <p:nvPr/>
        </p:nvSpPr>
        <p:spPr>
          <a:xfrm>
            <a:off x="939800" y="3530600"/>
            <a:ext cx="2540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39D3C3"/>
                </a:solidFill>
                <a:latin typeface="Roboto Mono"/>
                <a:ea typeface="Roboto Mono"/>
                <a:cs typeface="Roboto Mono"/>
                <a:sym typeface="Roboto Mono"/>
              </a:rPr>
              <a:t>Repeatable</a:t>
            </a:r>
            <a:endParaRPr b="1" sz="1100">
              <a:solidFill>
                <a:srgbClr val="39D3C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01" name="Google Shape;201;p18"/>
          <p:cNvSpPr txBox="1"/>
          <p:nvPr/>
        </p:nvSpPr>
        <p:spPr>
          <a:xfrm>
            <a:off x="939800" y="3835400"/>
            <a:ext cx="78231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Destroy and recreate with one command - identical environment, zero drift</a:t>
            </a:r>
            <a:endParaRPr sz="1000">
              <a:solidFill>
                <a:srgbClr val="E6EDF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02" name="Google Shape;202;p18"/>
          <p:cNvSpPr txBox="1"/>
          <p:nvPr/>
        </p:nvSpPr>
        <p:spPr>
          <a:xfrm>
            <a:off x="8382000" y="4864100"/>
            <a:ext cx="6351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6 / 22</a:t>
            </a:r>
            <a:endParaRPr sz="8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9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F0C6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9"/>
          <p:cNvSpPr txBox="1"/>
          <p:nvPr/>
        </p:nvSpPr>
        <p:spPr>
          <a:xfrm>
            <a:off x="254000" y="127000"/>
            <a:ext cx="5079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0C674"/>
                </a:solidFill>
                <a:latin typeface="Roboto Mono"/>
                <a:ea typeface="Roboto Mono"/>
                <a:cs typeface="Roboto Mono"/>
                <a:sym typeface="Roboto Mono"/>
              </a:rPr>
              <a:t>PART 1  -  TERRAFORM</a:t>
            </a:r>
            <a:endParaRPr b="1" sz="900">
              <a:solidFill>
                <a:srgbClr val="F0C674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09" name="Google Shape;209;p19"/>
          <p:cNvSpPr txBox="1"/>
          <p:nvPr/>
        </p:nvSpPr>
        <p:spPr>
          <a:xfrm>
            <a:off x="254000" y="177800"/>
            <a:ext cx="86361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Azure Resources Provisioned</a:t>
            </a:r>
            <a:endParaRPr b="1" sz="22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210" name="Google Shape;210;p19"/>
          <p:cNvCxnSpPr/>
          <p:nvPr/>
        </p:nvCxnSpPr>
        <p:spPr>
          <a:xfrm>
            <a:off x="254000" y="685800"/>
            <a:ext cx="8636100" cy="0"/>
          </a:xfrm>
          <a:prstGeom prst="straightConnector1">
            <a:avLst/>
          </a:prstGeom>
          <a:noFill/>
          <a:ln cap="flat" cmpd="sng" w="12700">
            <a:solidFill>
              <a:srgbClr val="1F293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1" name="Google Shape;211;p19"/>
          <p:cNvSpPr/>
          <p:nvPr/>
        </p:nvSpPr>
        <p:spPr>
          <a:xfrm>
            <a:off x="254000" y="787400"/>
            <a:ext cx="63600" cy="558900"/>
          </a:xfrm>
          <a:prstGeom prst="rect">
            <a:avLst/>
          </a:prstGeom>
          <a:solidFill>
            <a:srgbClr val="F0C6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9"/>
          <p:cNvSpPr/>
          <p:nvPr/>
        </p:nvSpPr>
        <p:spPr>
          <a:xfrm>
            <a:off x="317500" y="787400"/>
            <a:ext cx="4254600" cy="5589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9"/>
          <p:cNvSpPr txBox="1"/>
          <p:nvPr/>
        </p:nvSpPr>
        <p:spPr>
          <a:xfrm>
            <a:off x="431800" y="838200"/>
            <a:ext cx="4013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0C674"/>
                </a:solidFill>
                <a:latin typeface="Roboto Mono"/>
                <a:ea typeface="Roboto Mono"/>
                <a:cs typeface="Roboto Mono"/>
                <a:sym typeface="Roboto Mono"/>
              </a:rPr>
              <a:t>Resource Group</a:t>
            </a:r>
            <a:endParaRPr b="1" sz="1000">
              <a:solidFill>
                <a:srgbClr val="F0C674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14" name="Google Shape;214;p19"/>
          <p:cNvSpPr txBox="1"/>
          <p:nvPr/>
        </p:nvSpPr>
        <p:spPr>
          <a:xfrm>
            <a:off x="431800" y="1092200"/>
            <a:ext cx="40131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Container for all related Azure resources</a:t>
            </a:r>
            <a:endParaRPr sz="9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15" name="Google Shape;215;p19"/>
          <p:cNvSpPr/>
          <p:nvPr/>
        </p:nvSpPr>
        <p:spPr>
          <a:xfrm>
            <a:off x="254000" y="1447800"/>
            <a:ext cx="63600" cy="5589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9"/>
          <p:cNvSpPr/>
          <p:nvPr/>
        </p:nvSpPr>
        <p:spPr>
          <a:xfrm>
            <a:off x="317500" y="1447800"/>
            <a:ext cx="4254600" cy="5589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9"/>
          <p:cNvSpPr txBox="1"/>
          <p:nvPr/>
        </p:nvSpPr>
        <p:spPr>
          <a:xfrm>
            <a:off x="431800" y="1498600"/>
            <a:ext cx="4013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58A6FF"/>
                </a:solidFill>
                <a:latin typeface="Roboto Mono"/>
                <a:ea typeface="Roboto Mono"/>
                <a:cs typeface="Roboto Mono"/>
                <a:sym typeface="Roboto Mono"/>
              </a:rPr>
              <a:t>Virtual Network</a:t>
            </a:r>
            <a:endParaRPr b="1" sz="1000">
              <a:solidFill>
                <a:srgbClr val="58A6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18" name="Google Shape;218;p19"/>
          <p:cNvSpPr txBox="1"/>
          <p:nvPr/>
        </p:nvSpPr>
        <p:spPr>
          <a:xfrm>
            <a:off x="431800" y="1752600"/>
            <a:ext cx="40131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10.0.0.0/16  -  Isolated private network</a:t>
            </a:r>
            <a:endParaRPr sz="9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19" name="Google Shape;219;p19"/>
          <p:cNvSpPr/>
          <p:nvPr/>
        </p:nvSpPr>
        <p:spPr>
          <a:xfrm>
            <a:off x="254000" y="2108200"/>
            <a:ext cx="63600" cy="5589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9"/>
          <p:cNvSpPr/>
          <p:nvPr/>
        </p:nvSpPr>
        <p:spPr>
          <a:xfrm>
            <a:off x="317500" y="2108200"/>
            <a:ext cx="4254600" cy="5589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9"/>
          <p:cNvSpPr txBox="1"/>
          <p:nvPr/>
        </p:nvSpPr>
        <p:spPr>
          <a:xfrm>
            <a:off x="431800" y="2159000"/>
            <a:ext cx="4013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58A6FF"/>
                </a:solidFill>
                <a:latin typeface="Roboto Mono"/>
                <a:ea typeface="Roboto Mono"/>
                <a:cs typeface="Roboto Mono"/>
                <a:sym typeface="Roboto Mono"/>
              </a:rPr>
              <a:t>Subnet</a:t>
            </a:r>
            <a:endParaRPr b="1" sz="1000">
              <a:solidFill>
                <a:srgbClr val="58A6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22" name="Google Shape;222;p19"/>
          <p:cNvSpPr txBox="1"/>
          <p:nvPr/>
        </p:nvSpPr>
        <p:spPr>
          <a:xfrm>
            <a:off x="431800" y="2413000"/>
            <a:ext cx="40131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10.0.1.0/24  -  VM lives inside this subnet</a:t>
            </a:r>
            <a:endParaRPr sz="9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23" name="Google Shape;223;p19"/>
          <p:cNvSpPr/>
          <p:nvPr/>
        </p:nvSpPr>
        <p:spPr>
          <a:xfrm>
            <a:off x="254000" y="2768600"/>
            <a:ext cx="63600" cy="55890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9"/>
          <p:cNvSpPr/>
          <p:nvPr/>
        </p:nvSpPr>
        <p:spPr>
          <a:xfrm>
            <a:off x="317500" y="2768600"/>
            <a:ext cx="4254600" cy="5589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9"/>
          <p:cNvSpPr txBox="1"/>
          <p:nvPr/>
        </p:nvSpPr>
        <p:spPr>
          <a:xfrm>
            <a:off x="431800" y="2819400"/>
            <a:ext cx="4013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85149"/>
                </a:solidFill>
                <a:latin typeface="Roboto Mono"/>
                <a:ea typeface="Roboto Mono"/>
                <a:cs typeface="Roboto Mono"/>
                <a:sym typeface="Roboto Mono"/>
              </a:rPr>
              <a:t>Network Security Group</a:t>
            </a:r>
            <a:endParaRPr b="1" sz="1000">
              <a:solidFill>
                <a:srgbClr val="F85149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26" name="Google Shape;226;p19"/>
          <p:cNvSpPr txBox="1"/>
          <p:nvPr/>
        </p:nvSpPr>
        <p:spPr>
          <a:xfrm>
            <a:off x="431800" y="3073400"/>
            <a:ext cx="40131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Firewall  -  Port 22 SSH  |  Port 80 HTTP  |  Port 8080 App</a:t>
            </a:r>
            <a:endParaRPr sz="9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27" name="Google Shape;227;p19"/>
          <p:cNvSpPr/>
          <p:nvPr/>
        </p:nvSpPr>
        <p:spPr>
          <a:xfrm>
            <a:off x="4673600" y="787400"/>
            <a:ext cx="63600" cy="5589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9"/>
          <p:cNvSpPr/>
          <p:nvPr/>
        </p:nvSpPr>
        <p:spPr>
          <a:xfrm>
            <a:off x="4737100" y="787400"/>
            <a:ext cx="4254600" cy="5589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9"/>
          <p:cNvSpPr txBox="1"/>
          <p:nvPr/>
        </p:nvSpPr>
        <p:spPr>
          <a:xfrm>
            <a:off x="4851400" y="838200"/>
            <a:ext cx="4013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3FB950"/>
                </a:solidFill>
                <a:latin typeface="Roboto Mono"/>
                <a:ea typeface="Roboto Mono"/>
                <a:cs typeface="Roboto Mono"/>
                <a:sym typeface="Roboto Mono"/>
              </a:rPr>
              <a:t>Public IP Address</a:t>
            </a:r>
            <a:endParaRPr b="1" sz="1000">
              <a:solidFill>
                <a:srgbClr val="3FB95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30" name="Google Shape;230;p19"/>
          <p:cNvSpPr txBox="1"/>
          <p:nvPr/>
        </p:nvSpPr>
        <p:spPr>
          <a:xfrm>
            <a:off x="4851400" y="1092200"/>
            <a:ext cx="40131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Static IP  -  Makes VM reachable from internet</a:t>
            </a:r>
            <a:endParaRPr sz="9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31" name="Google Shape;231;p19"/>
          <p:cNvSpPr/>
          <p:nvPr/>
        </p:nvSpPr>
        <p:spPr>
          <a:xfrm>
            <a:off x="4673600" y="1447800"/>
            <a:ext cx="63600" cy="558900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9"/>
          <p:cNvSpPr/>
          <p:nvPr/>
        </p:nvSpPr>
        <p:spPr>
          <a:xfrm>
            <a:off x="4737100" y="1447800"/>
            <a:ext cx="4254600" cy="5589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9"/>
          <p:cNvSpPr txBox="1"/>
          <p:nvPr/>
        </p:nvSpPr>
        <p:spPr>
          <a:xfrm>
            <a:off x="4851400" y="1498600"/>
            <a:ext cx="4013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Network Interface</a:t>
            </a:r>
            <a:endParaRPr b="1" sz="10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34" name="Google Shape;234;p19"/>
          <p:cNvSpPr txBox="1"/>
          <p:nvPr/>
        </p:nvSpPr>
        <p:spPr>
          <a:xfrm>
            <a:off x="4851400" y="1752600"/>
            <a:ext cx="40131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Connects VM to Subnet and Public IP</a:t>
            </a:r>
            <a:endParaRPr sz="9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35" name="Google Shape;235;p19"/>
          <p:cNvSpPr/>
          <p:nvPr/>
        </p:nvSpPr>
        <p:spPr>
          <a:xfrm>
            <a:off x="4673600" y="2108200"/>
            <a:ext cx="63600" cy="558900"/>
          </a:xfrm>
          <a:prstGeom prst="rect">
            <a:avLst/>
          </a:prstGeom>
          <a:solidFill>
            <a:srgbClr val="39D3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9"/>
          <p:cNvSpPr/>
          <p:nvPr/>
        </p:nvSpPr>
        <p:spPr>
          <a:xfrm>
            <a:off x="4737100" y="2108200"/>
            <a:ext cx="4254600" cy="5589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9"/>
          <p:cNvSpPr txBox="1"/>
          <p:nvPr/>
        </p:nvSpPr>
        <p:spPr>
          <a:xfrm>
            <a:off x="4851400" y="2159000"/>
            <a:ext cx="4013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39D3C3"/>
                </a:solidFill>
                <a:latin typeface="Roboto Mono"/>
                <a:ea typeface="Roboto Mono"/>
                <a:cs typeface="Roboto Mono"/>
                <a:sym typeface="Roboto Mono"/>
              </a:rPr>
              <a:t>Linux Virtual Machine</a:t>
            </a:r>
            <a:endParaRPr b="1" sz="1000">
              <a:solidFill>
                <a:srgbClr val="39D3C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38" name="Google Shape;238;p19"/>
          <p:cNvSpPr txBox="1"/>
          <p:nvPr/>
        </p:nvSpPr>
        <p:spPr>
          <a:xfrm>
            <a:off x="4851400" y="2413000"/>
            <a:ext cx="40131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Ubuntu 24.04 LTS  |  Standard B1s  |  Norway East</a:t>
            </a:r>
            <a:endParaRPr sz="9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39" name="Google Shape;239;p19"/>
          <p:cNvSpPr txBox="1"/>
          <p:nvPr/>
        </p:nvSpPr>
        <p:spPr>
          <a:xfrm>
            <a:off x="254000" y="3530600"/>
            <a:ext cx="8636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VM ← NIC ← Subnet ← VNet ← NSG ← Public IP  -  all connected in this chain</a:t>
            </a:r>
            <a:endParaRPr i="1" sz="9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40" name="Google Shape;240;p19"/>
          <p:cNvSpPr txBox="1"/>
          <p:nvPr/>
        </p:nvSpPr>
        <p:spPr>
          <a:xfrm>
            <a:off x="8382000" y="4864100"/>
            <a:ext cx="6351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7 / 22</a:t>
            </a:r>
            <a:endParaRPr sz="8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F0C6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0"/>
          <p:cNvSpPr txBox="1"/>
          <p:nvPr/>
        </p:nvSpPr>
        <p:spPr>
          <a:xfrm>
            <a:off x="254000" y="127000"/>
            <a:ext cx="5079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0C674"/>
                </a:solidFill>
                <a:latin typeface="Roboto Mono"/>
                <a:ea typeface="Roboto Mono"/>
                <a:cs typeface="Roboto Mono"/>
                <a:sym typeface="Roboto Mono"/>
              </a:rPr>
              <a:t>PART 1  -  CHALLENGES</a:t>
            </a:r>
            <a:endParaRPr b="1" sz="900">
              <a:solidFill>
                <a:srgbClr val="F0C674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47" name="Google Shape;247;p20"/>
          <p:cNvSpPr txBox="1"/>
          <p:nvPr/>
        </p:nvSpPr>
        <p:spPr>
          <a:xfrm>
            <a:off x="254000" y="177800"/>
            <a:ext cx="86361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Challenges and Workaround</a:t>
            </a:r>
            <a:endParaRPr b="1" sz="22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248" name="Google Shape;248;p20"/>
          <p:cNvCxnSpPr/>
          <p:nvPr/>
        </p:nvCxnSpPr>
        <p:spPr>
          <a:xfrm>
            <a:off x="254000" y="685800"/>
            <a:ext cx="8636100" cy="0"/>
          </a:xfrm>
          <a:prstGeom prst="straightConnector1">
            <a:avLst/>
          </a:prstGeom>
          <a:noFill/>
          <a:ln cap="flat" cmpd="sng" w="12700">
            <a:solidFill>
              <a:srgbClr val="1F293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9" name="Google Shape;249;p20"/>
          <p:cNvSpPr/>
          <p:nvPr/>
        </p:nvSpPr>
        <p:spPr>
          <a:xfrm>
            <a:off x="254000" y="787400"/>
            <a:ext cx="8636100" cy="1092300"/>
          </a:xfrm>
          <a:prstGeom prst="rect">
            <a:avLst/>
          </a:prstGeom>
          <a:solidFill>
            <a:srgbClr val="161B22"/>
          </a:solidFill>
          <a:ln cap="flat" cmpd="sng" w="19050">
            <a:solidFill>
              <a:srgbClr val="F851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0"/>
          <p:cNvSpPr txBox="1"/>
          <p:nvPr/>
        </p:nvSpPr>
        <p:spPr>
          <a:xfrm>
            <a:off x="431800" y="889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85149"/>
                </a:solidFill>
                <a:latin typeface="Roboto Mono"/>
                <a:ea typeface="Roboto Mono"/>
                <a:cs typeface="Roboto Mono"/>
                <a:sym typeface="Roboto Mono"/>
              </a:rPr>
              <a:t>Problem</a:t>
            </a:r>
            <a:endParaRPr b="1" sz="1000">
              <a:solidFill>
                <a:srgbClr val="F85149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51" name="Google Shape;251;p20"/>
          <p:cNvSpPr txBox="1"/>
          <p:nvPr/>
        </p:nvSpPr>
        <p:spPr>
          <a:xfrm>
            <a:off x="431800" y="1168400"/>
            <a:ext cx="83313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terraform apply returned 403 Forbidden for VNet, NSG and Public IP.</a:t>
            </a:r>
            <a:endParaRPr sz="1000">
              <a:solidFill>
                <a:srgbClr val="E6EDF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Azure Student Subscription restricts resource creation in many regions.</a:t>
            </a:r>
            <a:endParaRPr sz="1000">
              <a:solidFill>
                <a:srgbClr val="E6EDF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No official list of allowed regions provided - required trial and error.</a:t>
            </a:r>
            <a:endParaRPr sz="1000">
              <a:solidFill>
                <a:srgbClr val="E6EDF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52" name="Google Shape;252;p20"/>
          <p:cNvSpPr/>
          <p:nvPr/>
        </p:nvSpPr>
        <p:spPr>
          <a:xfrm>
            <a:off x="254000" y="2006600"/>
            <a:ext cx="8636100" cy="965100"/>
          </a:xfrm>
          <a:prstGeom prst="rect">
            <a:avLst/>
          </a:prstGeom>
          <a:solidFill>
            <a:srgbClr val="161B22"/>
          </a:solidFill>
          <a:ln cap="flat" cmpd="sng" w="1905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0"/>
          <p:cNvSpPr txBox="1"/>
          <p:nvPr/>
        </p:nvSpPr>
        <p:spPr>
          <a:xfrm>
            <a:off x="431800" y="21082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3FB950"/>
                </a:solidFill>
                <a:latin typeface="Roboto Mono"/>
                <a:ea typeface="Roboto Mono"/>
                <a:cs typeface="Roboto Mono"/>
                <a:sym typeface="Roboto Mono"/>
              </a:rPr>
              <a:t>Resolution</a:t>
            </a:r>
            <a:endParaRPr b="1" sz="1000">
              <a:solidFill>
                <a:srgbClr val="3FB95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54" name="Google Shape;254;p20"/>
          <p:cNvSpPr txBox="1"/>
          <p:nvPr/>
        </p:nvSpPr>
        <p:spPr>
          <a:xfrm>
            <a:off x="431800" y="2387600"/>
            <a:ext cx="8331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Infrastructure provisioned manually through Azure Portal in Norway East region.</a:t>
            </a:r>
            <a:endParaRPr sz="1000">
              <a:solidFill>
                <a:srgbClr val="E6EDF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Terraform scripts retained in repository as IaC documentation of intended approach.</a:t>
            </a:r>
            <a:endParaRPr sz="1000">
              <a:solidFill>
                <a:srgbClr val="E6EDF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55" name="Google Shape;255;p20"/>
          <p:cNvSpPr/>
          <p:nvPr/>
        </p:nvSpPr>
        <p:spPr>
          <a:xfrm>
            <a:off x="254000" y="3098800"/>
            <a:ext cx="8636100" cy="838200"/>
          </a:xfrm>
          <a:prstGeom prst="rect">
            <a:avLst/>
          </a:prstGeom>
          <a:solidFill>
            <a:srgbClr val="161B22"/>
          </a:solidFill>
          <a:ln cap="flat" cmpd="sng" w="1905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0"/>
          <p:cNvSpPr txBox="1"/>
          <p:nvPr/>
        </p:nvSpPr>
        <p:spPr>
          <a:xfrm>
            <a:off x="431800" y="32004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58A6FF"/>
                </a:solidFill>
                <a:latin typeface="Roboto Mono"/>
                <a:ea typeface="Roboto Mono"/>
                <a:cs typeface="Roboto Mono"/>
                <a:sym typeface="Roboto Mono"/>
              </a:rPr>
              <a:t>Lesson</a:t>
            </a:r>
            <a:endParaRPr b="1" sz="1000">
              <a:solidFill>
                <a:srgbClr val="58A6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57" name="Google Shape;257;p20"/>
          <p:cNvSpPr txBox="1"/>
          <p:nvPr/>
        </p:nvSpPr>
        <p:spPr>
          <a:xfrm>
            <a:off x="431800" y="3454400"/>
            <a:ext cx="83313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Real cloud environments have subscription constraints requiring adaptation.</a:t>
            </a:r>
            <a:endParaRPr sz="1000">
              <a:solidFill>
                <a:srgbClr val="E6EDF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Understanding both automated and manual approaches demonstrates deeper knowledge.</a:t>
            </a:r>
            <a:endParaRPr sz="1000">
              <a:solidFill>
                <a:srgbClr val="E6EDF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58" name="Google Shape;258;p20"/>
          <p:cNvSpPr txBox="1"/>
          <p:nvPr/>
        </p:nvSpPr>
        <p:spPr>
          <a:xfrm>
            <a:off x="8382000" y="4864100"/>
            <a:ext cx="6351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8 / 22</a:t>
            </a:r>
            <a:endParaRPr sz="8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1"/>
          <p:cNvSpPr/>
          <p:nvPr/>
        </p:nvSpPr>
        <p:spPr>
          <a:xfrm>
            <a:off x="0" y="0"/>
            <a:ext cx="9144000" cy="1017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1"/>
          <p:cNvSpPr txBox="1"/>
          <p:nvPr/>
        </p:nvSpPr>
        <p:spPr>
          <a:xfrm>
            <a:off x="254000" y="355600"/>
            <a:ext cx="86361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58A6FF"/>
                </a:solidFill>
                <a:latin typeface="Roboto Mono"/>
                <a:ea typeface="Roboto Mono"/>
                <a:cs typeface="Roboto Mono"/>
                <a:sym typeface="Roboto Mono"/>
              </a:rPr>
              <a:t>PART 2</a:t>
            </a:r>
            <a:endParaRPr b="1" sz="1000">
              <a:solidFill>
                <a:srgbClr val="58A6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65" name="Google Shape;265;p21"/>
          <p:cNvSpPr txBox="1"/>
          <p:nvPr/>
        </p:nvSpPr>
        <p:spPr>
          <a:xfrm>
            <a:off x="254000" y="787400"/>
            <a:ext cx="86361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Configuration Management</a:t>
            </a:r>
            <a:endParaRPr b="1" sz="34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66" name="Google Shape;266;p21"/>
          <p:cNvSpPr txBox="1"/>
          <p:nvPr/>
        </p:nvSpPr>
        <p:spPr>
          <a:xfrm>
            <a:off x="254000" y="1549400"/>
            <a:ext cx="86361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58A6FF"/>
                </a:solidFill>
                <a:latin typeface="Roboto Mono"/>
                <a:ea typeface="Roboto Mono"/>
                <a:cs typeface="Roboto Mono"/>
                <a:sym typeface="Roboto Mono"/>
              </a:rPr>
              <a:t>Tool: Ansible by Red Hat</a:t>
            </a:r>
            <a:endParaRPr sz="1300">
              <a:solidFill>
                <a:srgbClr val="58A6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267" name="Google Shape;267;p21"/>
          <p:cNvCxnSpPr/>
          <p:nvPr/>
        </p:nvCxnSpPr>
        <p:spPr>
          <a:xfrm>
            <a:off x="254000" y="2006600"/>
            <a:ext cx="8636100" cy="0"/>
          </a:xfrm>
          <a:prstGeom prst="straightConnector1">
            <a:avLst/>
          </a:prstGeom>
          <a:noFill/>
          <a:ln cap="flat" cmpd="sng" w="12700">
            <a:solidFill>
              <a:srgbClr val="58A6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8" name="Google Shape;268;p21"/>
          <p:cNvSpPr txBox="1"/>
          <p:nvPr/>
        </p:nvSpPr>
        <p:spPr>
          <a:xfrm>
            <a:off x="508000" y="2159000"/>
            <a:ext cx="8127900" cy="88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Write tasks in YAML - Ansible runs them on the VM over SSH.</a:t>
            </a:r>
            <a:endParaRPr sz="1200">
              <a:solidFill>
                <a:srgbClr val="E6EDF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No agent installed on the server. No manual SSH required.</a:t>
            </a:r>
            <a:endParaRPr sz="1200">
              <a:solidFill>
                <a:srgbClr val="E6EDF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Idempotent - safe to run multiple times with the same result.</a:t>
            </a:r>
            <a:endParaRPr sz="1200">
              <a:solidFill>
                <a:srgbClr val="E6EDF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69" name="Google Shape;269;p21"/>
          <p:cNvSpPr txBox="1"/>
          <p:nvPr/>
        </p:nvSpPr>
        <p:spPr>
          <a:xfrm>
            <a:off x="8382000" y="4864100"/>
            <a:ext cx="6351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9 / 22</a:t>
            </a:r>
            <a:endParaRPr sz="8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2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2"/>
          <p:cNvSpPr txBox="1"/>
          <p:nvPr/>
        </p:nvSpPr>
        <p:spPr>
          <a:xfrm>
            <a:off x="254000" y="127000"/>
            <a:ext cx="5079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58A6FF"/>
                </a:solidFill>
                <a:latin typeface="Roboto Mono"/>
                <a:ea typeface="Roboto Mono"/>
                <a:cs typeface="Roboto Mono"/>
                <a:sym typeface="Roboto Mono"/>
              </a:rPr>
              <a:t>PART 2  -  ANSIBLE</a:t>
            </a:r>
            <a:endParaRPr b="1" sz="900">
              <a:solidFill>
                <a:srgbClr val="58A6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76" name="Google Shape;276;p22"/>
          <p:cNvSpPr txBox="1"/>
          <p:nvPr/>
        </p:nvSpPr>
        <p:spPr>
          <a:xfrm>
            <a:off x="254000" y="177800"/>
            <a:ext cx="86361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Playbook Structure</a:t>
            </a:r>
            <a:endParaRPr b="1" sz="22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277" name="Google Shape;277;p22"/>
          <p:cNvCxnSpPr/>
          <p:nvPr/>
        </p:nvCxnSpPr>
        <p:spPr>
          <a:xfrm>
            <a:off x="254000" y="685800"/>
            <a:ext cx="8636100" cy="0"/>
          </a:xfrm>
          <a:prstGeom prst="straightConnector1">
            <a:avLst/>
          </a:prstGeom>
          <a:noFill/>
          <a:ln cap="flat" cmpd="sng" w="12700">
            <a:solidFill>
              <a:srgbClr val="1F293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8" name="Google Shape;278;p22"/>
          <p:cNvSpPr/>
          <p:nvPr/>
        </p:nvSpPr>
        <p:spPr>
          <a:xfrm>
            <a:off x="254000" y="787400"/>
            <a:ext cx="63600" cy="482700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2"/>
          <p:cNvSpPr/>
          <p:nvPr/>
        </p:nvSpPr>
        <p:spPr>
          <a:xfrm>
            <a:off x="317500" y="787400"/>
            <a:ext cx="8572500" cy="4827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2"/>
          <p:cNvSpPr txBox="1"/>
          <p:nvPr/>
        </p:nvSpPr>
        <p:spPr>
          <a:xfrm>
            <a:off x="406400" y="838200"/>
            <a:ext cx="38100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ansible.cfg</a:t>
            </a:r>
            <a:endParaRPr b="1" sz="10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81" name="Google Shape;281;p22"/>
          <p:cNvSpPr txBox="1"/>
          <p:nvPr/>
        </p:nvSpPr>
        <p:spPr>
          <a:xfrm>
            <a:off x="406400" y="1066800"/>
            <a:ext cx="83565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Global settings - SSH options, inventory path, disable host key checking</a:t>
            </a:r>
            <a:endParaRPr sz="9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82" name="Google Shape;282;p22"/>
          <p:cNvSpPr/>
          <p:nvPr/>
        </p:nvSpPr>
        <p:spPr>
          <a:xfrm>
            <a:off x="254000" y="1397000"/>
            <a:ext cx="63600" cy="4827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2"/>
          <p:cNvSpPr/>
          <p:nvPr/>
        </p:nvSpPr>
        <p:spPr>
          <a:xfrm>
            <a:off x="317500" y="1397000"/>
            <a:ext cx="8572500" cy="4827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2"/>
          <p:cNvSpPr txBox="1"/>
          <p:nvPr/>
        </p:nvSpPr>
        <p:spPr>
          <a:xfrm>
            <a:off x="406400" y="1447800"/>
            <a:ext cx="38100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58A6FF"/>
                </a:solidFill>
                <a:latin typeface="Roboto Mono"/>
                <a:ea typeface="Roboto Mono"/>
                <a:cs typeface="Roboto Mono"/>
                <a:sym typeface="Roboto Mono"/>
              </a:rPr>
              <a:t>inventory/hosts.ini</a:t>
            </a:r>
            <a:endParaRPr b="1" sz="1000">
              <a:solidFill>
                <a:srgbClr val="58A6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85" name="Google Shape;285;p22"/>
          <p:cNvSpPr txBox="1"/>
          <p:nvPr/>
        </p:nvSpPr>
        <p:spPr>
          <a:xfrm>
            <a:off x="406400" y="1676400"/>
            <a:ext cx="83565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VM IP address and SSH user details</a:t>
            </a:r>
            <a:endParaRPr sz="9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86" name="Google Shape;286;p22"/>
          <p:cNvSpPr/>
          <p:nvPr/>
        </p:nvSpPr>
        <p:spPr>
          <a:xfrm>
            <a:off x="254000" y="2006600"/>
            <a:ext cx="63600" cy="482700"/>
          </a:xfrm>
          <a:prstGeom prst="rect">
            <a:avLst/>
          </a:prstGeom>
          <a:solidFill>
            <a:srgbClr val="F0C6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2"/>
          <p:cNvSpPr/>
          <p:nvPr/>
        </p:nvSpPr>
        <p:spPr>
          <a:xfrm>
            <a:off x="317500" y="2006600"/>
            <a:ext cx="8572500" cy="4827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2"/>
          <p:cNvSpPr txBox="1"/>
          <p:nvPr/>
        </p:nvSpPr>
        <p:spPr>
          <a:xfrm>
            <a:off x="406400" y="2057400"/>
            <a:ext cx="38100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0C674"/>
                </a:solidFill>
                <a:latin typeface="Roboto Mono"/>
                <a:ea typeface="Roboto Mono"/>
                <a:cs typeface="Roboto Mono"/>
                <a:sym typeface="Roboto Mono"/>
              </a:rPr>
              <a:t>setup.yml  ★</a:t>
            </a:r>
            <a:endParaRPr b="1" sz="1000">
              <a:solidFill>
                <a:srgbClr val="F0C674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89" name="Google Shape;289;p22"/>
          <p:cNvSpPr txBox="1"/>
          <p:nvPr/>
        </p:nvSpPr>
        <p:spPr>
          <a:xfrm>
            <a:off x="406400" y="2286000"/>
            <a:ext cx="83565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Main entry point - calls the configuration role</a:t>
            </a:r>
            <a:endParaRPr sz="9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90" name="Google Shape;290;p22"/>
          <p:cNvSpPr/>
          <p:nvPr/>
        </p:nvSpPr>
        <p:spPr>
          <a:xfrm>
            <a:off x="254000" y="2616200"/>
            <a:ext cx="63600" cy="4827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2"/>
          <p:cNvSpPr/>
          <p:nvPr/>
        </p:nvSpPr>
        <p:spPr>
          <a:xfrm>
            <a:off x="317500" y="2616200"/>
            <a:ext cx="8572500" cy="4827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2"/>
          <p:cNvSpPr txBox="1"/>
          <p:nvPr/>
        </p:nvSpPr>
        <p:spPr>
          <a:xfrm>
            <a:off x="406400" y="2667000"/>
            <a:ext cx="38100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58A6FF"/>
                </a:solidFill>
                <a:latin typeface="Roboto Mono"/>
                <a:ea typeface="Roboto Mono"/>
                <a:cs typeface="Roboto Mono"/>
                <a:sym typeface="Roboto Mono"/>
              </a:rPr>
              <a:t>roles/configuration/tasks/main.yml</a:t>
            </a:r>
            <a:endParaRPr b="1" sz="1000">
              <a:solidFill>
                <a:srgbClr val="58A6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93" name="Google Shape;293;p22"/>
          <p:cNvSpPr txBox="1"/>
          <p:nvPr/>
        </p:nvSpPr>
        <p:spPr>
          <a:xfrm>
            <a:off x="406400" y="2895600"/>
            <a:ext cx="83565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All 10 installation and configuration steps defined here</a:t>
            </a:r>
            <a:endParaRPr sz="9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94" name="Google Shape;294;p22"/>
          <p:cNvSpPr/>
          <p:nvPr/>
        </p:nvSpPr>
        <p:spPr>
          <a:xfrm>
            <a:off x="254000" y="3225800"/>
            <a:ext cx="63600" cy="482700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2"/>
          <p:cNvSpPr/>
          <p:nvPr/>
        </p:nvSpPr>
        <p:spPr>
          <a:xfrm>
            <a:off x="317500" y="3225800"/>
            <a:ext cx="8572500" cy="4827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2"/>
          <p:cNvSpPr txBox="1"/>
          <p:nvPr/>
        </p:nvSpPr>
        <p:spPr>
          <a:xfrm>
            <a:off x="406400" y="3276600"/>
            <a:ext cx="38100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roles/configuration/handlers/main.yml</a:t>
            </a:r>
            <a:endParaRPr b="1" sz="10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97" name="Google Shape;297;p22"/>
          <p:cNvSpPr txBox="1"/>
          <p:nvPr/>
        </p:nvSpPr>
        <p:spPr>
          <a:xfrm>
            <a:off x="406400" y="3505200"/>
            <a:ext cx="83565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Restarts Docker only when a change is actually made</a:t>
            </a:r>
            <a:endParaRPr sz="9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98" name="Google Shape;298;p22"/>
          <p:cNvSpPr/>
          <p:nvPr/>
        </p:nvSpPr>
        <p:spPr>
          <a:xfrm>
            <a:off x="254000" y="3835400"/>
            <a:ext cx="63600" cy="4827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2"/>
          <p:cNvSpPr/>
          <p:nvPr/>
        </p:nvSpPr>
        <p:spPr>
          <a:xfrm>
            <a:off x="317500" y="3835400"/>
            <a:ext cx="8572500" cy="4827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2"/>
          <p:cNvSpPr txBox="1"/>
          <p:nvPr/>
        </p:nvSpPr>
        <p:spPr>
          <a:xfrm>
            <a:off x="406400" y="3886200"/>
            <a:ext cx="38100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3FB950"/>
                </a:solidFill>
                <a:latin typeface="Roboto Mono"/>
                <a:ea typeface="Roboto Mono"/>
                <a:cs typeface="Roboto Mono"/>
                <a:sym typeface="Roboto Mono"/>
              </a:rPr>
              <a:t>deploy.yml  ★</a:t>
            </a:r>
            <a:endParaRPr b="1" sz="1000">
              <a:solidFill>
                <a:srgbClr val="3FB95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01" name="Google Shape;301;p22"/>
          <p:cNvSpPr txBox="1"/>
          <p:nvPr/>
        </p:nvSpPr>
        <p:spPr>
          <a:xfrm>
            <a:off x="406400" y="4114800"/>
            <a:ext cx="83565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Deployment playbook - entry point for Part 3 and Part 4 CI/CD</a:t>
            </a:r>
            <a:endParaRPr sz="9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02" name="Google Shape;302;p22"/>
          <p:cNvSpPr txBox="1"/>
          <p:nvPr/>
        </p:nvSpPr>
        <p:spPr>
          <a:xfrm>
            <a:off x="8382000" y="4864100"/>
            <a:ext cx="6351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10 / 22</a:t>
            </a:r>
            <a:endParaRPr sz="8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3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3"/>
          <p:cNvSpPr txBox="1"/>
          <p:nvPr/>
        </p:nvSpPr>
        <p:spPr>
          <a:xfrm>
            <a:off x="254000" y="127000"/>
            <a:ext cx="5079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58A6FF"/>
                </a:solidFill>
                <a:latin typeface="Roboto Mono"/>
                <a:ea typeface="Roboto Mono"/>
                <a:cs typeface="Roboto Mono"/>
                <a:sym typeface="Roboto Mono"/>
              </a:rPr>
              <a:t>PART 2  -  ANSIBLE</a:t>
            </a:r>
            <a:endParaRPr b="1" sz="900">
              <a:solidFill>
                <a:srgbClr val="58A6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09" name="Google Shape;309;p23"/>
          <p:cNvSpPr txBox="1"/>
          <p:nvPr/>
        </p:nvSpPr>
        <p:spPr>
          <a:xfrm>
            <a:off x="254000" y="177800"/>
            <a:ext cx="86361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Configuration Tasks on VM</a:t>
            </a:r>
            <a:endParaRPr b="1" sz="22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310" name="Google Shape;310;p23"/>
          <p:cNvCxnSpPr/>
          <p:nvPr/>
        </p:nvCxnSpPr>
        <p:spPr>
          <a:xfrm>
            <a:off x="254000" y="685800"/>
            <a:ext cx="8636100" cy="0"/>
          </a:xfrm>
          <a:prstGeom prst="straightConnector1">
            <a:avLst/>
          </a:prstGeom>
          <a:noFill/>
          <a:ln cap="flat" cmpd="sng" w="12700">
            <a:solidFill>
              <a:srgbClr val="1F293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1" name="Google Shape;311;p23"/>
          <p:cNvSpPr/>
          <p:nvPr/>
        </p:nvSpPr>
        <p:spPr>
          <a:xfrm>
            <a:off x="254000" y="787400"/>
            <a:ext cx="4317900" cy="5334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3"/>
          <p:cNvSpPr/>
          <p:nvPr/>
        </p:nvSpPr>
        <p:spPr>
          <a:xfrm>
            <a:off x="254000" y="787400"/>
            <a:ext cx="406500" cy="5334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3"/>
          <p:cNvSpPr txBox="1"/>
          <p:nvPr/>
        </p:nvSpPr>
        <p:spPr>
          <a:xfrm>
            <a:off x="254000" y="787400"/>
            <a:ext cx="406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01</a:t>
            </a:r>
            <a:endParaRPr b="1" sz="9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14" name="Google Shape;314;p23"/>
          <p:cNvSpPr txBox="1"/>
          <p:nvPr/>
        </p:nvSpPr>
        <p:spPr>
          <a:xfrm>
            <a:off x="736600" y="838200"/>
            <a:ext cx="36831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apt-get update</a:t>
            </a:r>
            <a:endParaRPr b="1" sz="9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15" name="Google Shape;315;p23"/>
          <p:cNvSpPr txBox="1"/>
          <p:nvPr/>
        </p:nvSpPr>
        <p:spPr>
          <a:xfrm>
            <a:off x="736600" y="1092200"/>
            <a:ext cx="36831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Prevents broken dependencies</a:t>
            </a:r>
            <a:endParaRPr sz="8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16" name="Google Shape;316;p23"/>
          <p:cNvSpPr/>
          <p:nvPr/>
        </p:nvSpPr>
        <p:spPr>
          <a:xfrm>
            <a:off x="254000" y="1422400"/>
            <a:ext cx="4317900" cy="5334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23"/>
          <p:cNvSpPr/>
          <p:nvPr/>
        </p:nvSpPr>
        <p:spPr>
          <a:xfrm>
            <a:off x="254000" y="1422400"/>
            <a:ext cx="406500" cy="5334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23"/>
          <p:cNvSpPr txBox="1"/>
          <p:nvPr/>
        </p:nvSpPr>
        <p:spPr>
          <a:xfrm>
            <a:off x="254000" y="1422400"/>
            <a:ext cx="406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02</a:t>
            </a:r>
            <a:endParaRPr b="1" sz="9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19" name="Google Shape;319;p23"/>
          <p:cNvSpPr txBox="1"/>
          <p:nvPr/>
        </p:nvSpPr>
        <p:spPr>
          <a:xfrm>
            <a:off x="736600" y="1473200"/>
            <a:ext cx="36831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Install prerequisites</a:t>
            </a:r>
            <a:endParaRPr b="1" sz="9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20" name="Google Shape;320;p23"/>
          <p:cNvSpPr txBox="1"/>
          <p:nvPr/>
        </p:nvSpPr>
        <p:spPr>
          <a:xfrm>
            <a:off x="736600" y="1727200"/>
            <a:ext cx="36831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curl  git  ca-certificates  gnupg</a:t>
            </a:r>
            <a:endParaRPr sz="8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21" name="Google Shape;321;p23"/>
          <p:cNvSpPr/>
          <p:nvPr/>
        </p:nvSpPr>
        <p:spPr>
          <a:xfrm>
            <a:off x="254000" y="2057400"/>
            <a:ext cx="4317900" cy="5334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3"/>
          <p:cNvSpPr/>
          <p:nvPr/>
        </p:nvSpPr>
        <p:spPr>
          <a:xfrm>
            <a:off x="254000" y="2057400"/>
            <a:ext cx="406500" cy="5334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23"/>
          <p:cNvSpPr txBox="1"/>
          <p:nvPr/>
        </p:nvSpPr>
        <p:spPr>
          <a:xfrm>
            <a:off x="254000" y="2057400"/>
            <a:ext cx="406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58A6FF"/>
                </a:solidFill>
                <a:latin typeface="Roboto Mono"/>
                <a:ea typeface="Roboto Mono"/>
                <a:cs typeface="Roboto Mono"/>
                <a:sym typeface="Roboto Mono"/>
              </a:rPr>
              <a:t>03</a:t>
            </a:r>
            <a:endParaRPr b="1" sz="900">
              <a:solidFill>
                <a:srgbClr val="58A6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24" name="Google Shape;324;p23"/>
          <p:cNvSpPr txBox="1"/>
          <p:nvPr/>
        </p:nvSpPr>
        <p:spPr>
          <a:xfrm>
            <a:off x="736600" y="2108200"/>
            <a:ext cx="36831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58A6FF"/>
                </a:solidFill>
                <a:latin typeface="Roboto Mono"/>
                <a:ea typeface="Roboto Mono"/>
                <a:cs typeface="Roboto Mono"/>
                <a:sym typeface="Roboto Mono"/>
              </a:rPr>
              <a:t>Add Docker GPG key</a:t>
            </a:r>
            <a:endParaRPr b="1" sz="900">
              <a:solidFill>
                <a:srgbClr val="58A6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25" name="Google Shape;325;p23"/>
          <p:cNvSpPr txBox="1"/>
          <p:nvPr/>
        </p:nvSpPr>
        <p:spPr>
          <a:xfrm>
            <a:off x="736600" y="2362200"/>
            <a:ext cx="36831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Verifies official Docker source</a:t>
            </a:r>
            <a:endParaRPr sz="8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26" name="Google Shape;326;p23"/>
          <p:cNvSpPr/>
          <p:nvPr/>
        </p:nvSpPr>
        <p:spPr>
          <a:xfrm>
            <a:off x="254000" y="2692400"/>
            <a:ext cx="4317900" cy="5334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23"/>
          <p:cNvSpPr/>
          <p:nvPr/>
        </p:nvSpPr>
        <p:spPr>
          <a:xfrm>
            <a:off x="254000" y="2692400"/>
            <a:ext cx="406500" cy="5334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23"/>
          <p:cNvSpPr txBox="1"/>
          <p:nvPr/>
        </p:nvSpPr>
        <p:spPr>
          <a:xfrm>
            <a:off x="254000" y="2692400"/>
            <a:ext cx="406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58A6FF"/>
                </a:solidFill>
                <a:latin typeface="Roboto Mono"/>
                <a:ea typeface="Roboto Mono"/>
                <a:cs typeface="Roboto Mono"/>
                <a:sym typeface="Roboto Mono"/>
              </a:rPr>
              <a:t>04</a:t>
            </a:r>
            <a:endParaRPr b="1" sz="900">
              <a:solidFill>
                <a:srgbClr val="58A6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29" name="Google Shape;329;p23"/>
          <p:cNvSpPr txBox="1"/>
          <p:nvPr/>
        </p:nvSpPr>
        <p:spPr>
          <a:xfrm>
            <a:off x="736600" y="2743200"/>
            <a:ext cx="36831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58A6FF"/>
                </a:solidFill>
                <a:latin typeface="Roboto Mono"/>
                <a:ea typeface="Roboto Mono"/>
                <a:cs typeface="Roboto Mono"/>
                <a:sym typeface="Roboto Mono"/>
              </a:rPr>
              <a:t>Add Docker repository</a:t>
            </a:r>
            <a:endParaRPr b="1" sz="900">
              <a:solidFill>
                <a:srgbClr val="58A6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30" name="Google Shape;330;p23"/>
          <p:cNvSpPr txBox="1"/>
          <p:nvPr/>
        </p:nvSpPr>
        <p:spPr>
          <a:xfrm>
            <a:off x="736600" y="2997200"/>
            <a:ext cx="36831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Registers Docker apt source</a:t>
            </a:r>
            <a:endParaRPr sz="8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31" name="Google Shape;331;p23"/>
          <p:cNvSpPr/>
          <p:nvPr/>
        </p:nvSpPr>
        <p:spPr>
          <a:xfrm>
            <a:off x="254000" y="3327400"/>
            <a:ext cx="4317900" cy="5334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23"/>
          <p:cNvSpPr/>
          <p:nvPr/>
        </p:nvSpPr>
        <p:spPr>
          <a:xfrm>
            <a:off x="254000" y="3327400"/>
            <a:ext cx="406500" cy="5334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23"/>
          <p:cNvSpPr txBox="1"/>
          <p:nvPr/>
        </p:nvSpPr>
        <p:spPr>
          <a:xfrm>
            <a:off x="254000" y="3327400"/>
            <a:ext cx="406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3FB950"/>
                </a:solidFill>
                <a:latin typeface="Roboto Mono"/>
                <a:ea typeface="Roboto Mono"/>
                <a:cs typeface="Roboto Mono"/>
                <a:sym typeface="Roboto Mono"/>
              </a:rPr>
              <a:t>05</a:t>
            </a:r>
            <a:endParaRPr b="1" sz="900">
              <a:solidFill>
                <a:srgbClr val="3FB95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34" name="Google Shape;334;p23"/>
          <p:cNvSpPr txBox="1"/>
          <p:nvPr/>
        </p:nvSpPr>
        <p:spPr>
          <a:xfrm>
            <a:off x="736600" y="3378200"/>
            <a:ext cx="36831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3FB950"/>
                </a:solidFill>
                <a:latin typeface="Roboto Mono"/>
                <a:ea typeface="Roboto Mono"/>
                <a:cs typeface="Roboto Mono"/>
                <a:sym typeface="Roboto Mono"/>
              </a:rPr>
              <a:t>Install Docker Engine</a:t>
            </a:r>
            <a:endParaRPr b="1" sz="900">
              <a:solidFill>
                <a:srgbClr val="3FB95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35" name="Google Shape;335;p23"/>
          <p:cNvSpPr txBox="1"/>
          <p:nvPr/>
        </p:nvSpPr>
        <p:spPr>
          <a:xfrm>
            <a:off x="736600" y="3632200"/>
            <a:ext cx="36831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docker-ce  docker-ce-cli  containerd</a:t>
            </a:r>
            <a:endParaRPr sz="8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36" name="Google Shape;336;p23"/>
          <p:cNvSpPr/>
          <p:nvPr/>
        </p:nvSpPr>
        <p:spPr>
          <a:xfrm>
            <a:off x="4673600" y="787400"/>
            <a:ext cx="4317900" cy="5334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23"/>
          <p:cNvSpPr/>
          <p:nvPr/>
        </p:nvSpPr>
        <p:spPr>
          <a:xfrm>
            <a:off x="4673600" y="787400"/>
            <a:ext cx="406500" cy="5334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23"/>
          <p:cNvSpPr txBox="1"/>
          <p:nvPr/>
        </p:nvSpPr>
        <p:spPr>
          <a:xfrm>
            <a:off x="4673600" y="787400"/>
            <a:ext cx="406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0C674"/>
                </a:solidFill>
                <a:latin typeface="Roboto Mono"/>
                <a:ea typeface="Roboto Mono"/>
                <a:cs typeface="Roboto Mono"/>
                <a:sym typeface="Roboto Mono"/>
              </a:rPr>
              <a:t>06</a:t>
            </a:r>
            <a:endParaRPr b="1" sz="900">
              <a:solidFill>
                <a:srgbClr val="F0C674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39" name="Google Shape;339;p23"/>
          <p:cNvSpPr txBox="1"/>
          <p:nvPr/>
        </p:nvSpPr>
        <p:spPr>
          <a:xfrm>
            <a:off x="5156200" y="838200"/>
            <a:ext cx="36831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0C674"/>
                </a:solidFill>
                <a:latin typeface="Roboto Mono"/>
                <a:ea typeface="Roboto Mono"/>
                <a:cs typeface="Roboto Mono"/>
                <a:sym typeface="Roboto Mono"/>
              </a:rPr>
              <a:t>Enable Docker on boot</a:t>
            </a:r>
            <a:endParaRPr b="1" sz="900">
              <a:solidFill>
                <a:srgbClr val="F0C674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40" name="Google Shape;340;p23"/>
          <p:cNvSpPr txBox="1"/>
          <p:nvPr/>
        </p:nvSpPr>
        <p:spPr>
          <a:xfrm>
            <a:off x="5156200" y="1092200"/>
            <a:ext cx="36831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systemd - auto starts on reboot</a:t>
            </a:r>
            <a:endParaRPr sz="8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41" name="Google Shape;341;p23"/>
          <p:cNvSpPr/>
          <p:nvPr/>
        </p:nvSpPr>
        <p:spPr>
          <a:xfrm>
            <a:off x="4673600" y="1422400"/>
            <a:ext cx="4317900" cy="5334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23"/>
          <p:cNvSpPr/>
          <p:nvPr/>
        </p:nvSpPr>
        <p:spPr>
          <a:xfrm>
            <a:off x="4673600" y="1422400"/>
            <a:ext cx="406500" cy="5334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23"/>
          <p:cNvSpPr txBox="1"/>
          <p:nvPr/>
        </p:nvSpPr>
        <p:spPr>
          <a:xfrm>
            <a:off x="4673600" y="1422400"/>
            <a:ext cx="406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0C674"/>
                </a:solidFill>
                <a:latin typeface="Roboto Mono"/>
                <a:ea typeface="Roboto Mono"/>
                <a:cs typeface="Roboto Mono"/>
                <a:sym typeface="Roboto Mono"/>
              </a:rPr>
              <a:t>07</a:t>
            </a:r>
            <a:endParaRPr b="1" sz="900">
              <a:solidFill>
                <a:srgbClr val="F0C674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44" name="Google Shape;344;p23"/>
          <p:cNvSpPr txBox="1"/>
          <p:nvPr/>
        </p:nvSpPr>
        <p:spPr>
          <a:xfrm>
            <a:off x="5156200" y="1473200"/>
            <a:ext cx="36831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0C674"/>
                </a:solidFill>
                <a:latin typeface="Roboto Mono"/>
                <a:ea typeface="Roboto Mono"/>
                <a:cs typeface="Roboto Mono"/>
                <a:sym typeface="Roboto Mono"/>
              </a:rPr>
              <a:t>Start Docker service</a:t>
            </a:r>
            <a:endParaRPr b="1" sz="900">
              <a:solidFill>
                <a:srgbClr val="F0C674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45" name="Google Shape;345;p23"/>
          <p:cNvSpPr txBox="1"/>
          <p:nvPr/>
        </p:nvSpPr>
        <p:spPr>
          <a:xfrm>
            <a:off x="5156200" y="1727200"/>
            <a:ext cx="36831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Running immediately after install</a:t>
            </a:r>
            <a:endParaRPr sz="8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46" name="Google Shape;346;p23"/>
          <p:cNvSpPr/>
          <p:nvPr/>
        </p:nvSpPr>
        <p:spPr>
          <a:xfrm>
            <a:off x="4673600" y="2057400"/>
            <a:ext cx="4317900" cy="5334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23"/>
          <p:cNvSpPr/>
          <p:nvPr/>
        </p:nvSpPr>
        <p:spPr>
          <a:xfrm>
            <a:off x="4673600" y="2057400"/>
            <a:ext cx="406500" cy="5334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23"/>
          <p:cNvSpPr txBox="1"/>
          <p:nvPr/>
        </p:nvSpPr>
        <p:spPr>
          <a:xfrm>
            <a:off x="4673600" y="2057400"/>
            <a:ext cx="406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39D3C3"/>
                </a:solidFill>
                <a:latin typeface="Roboto Mono"/>
                <a:ea typeface="Roboto Mono"/>
                <a:cs typeface="Roboto Mono"/>
                <a:sym typeface="Roboto Mono"/>
              </a:rPr>
              <a:t>08</a:t>
            </a:r>
            <a:endParaRPr b="1" sz="900">
              <a:solidFill>
                <a:srgbClr val="39D3C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49" name="Google Shape;349;p23"/>
          <p:cNvSpPr txBox="1"/>
          <p:nvPr/>
        </p:nvSpPr>
        <p:spPr>
          <a:xfrm>
            <a:off x="5156200" y="2108200"/>
            <a:ext cx="36831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39D3C3"/>
                </a:solidFill>
                <a:latin typeface="Roboto Mono"/>
                <a:ea typeface="Roboto Mono"/>
                <a:cs typeface="Roboto Mono"/>
                <a:sym typeface="Roboto Mono"/>
              </a:rPr>
              <a:t>Add user to docker group</a:t>
            </a:r>
            <a:endParaRPr b="1" sz="900">
              <a:solidFill>
                <a:srgbClr val="39D3C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50" name="Google Shape;350;p23"/>
          <p:cNvSpPr txBox="1"/>
          <p:nvPr/>
        </p:nvSpPr>
        <p:spPr>
          <a:xfrm>
            <a:off x="5156200" y="2362200"/>
            <a:ext cx="36831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No sudo needed for docker commands</a:t>
            </a:r>
            <a:endParaRPr sz="8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51" name="Google Shape;351;p23"/>
          <p:cNvSpPr/>
          <p:nvPr/>
        </p:nvSpPr>
        <p:spPr>
          <a:xfrm>
            <a:off x="4673600" y="2692400"/>
            <a:ext cx="4317900" cy="5334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23"/>
          <p:cNvSpPr/>
          <p:nvPr/>
        </p:nvSpPr>
        <p:spPr>
          <a:xfrm>
            <a:off x="4673600" y="2692400"/>
            <a:ext cx="406500" cy="5334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23"/>
          <p:cNvSpPr txBox="1"/>
          <p:nvPr/>
        </p:nvSpPr>
        <p:spPr>
          <a:xfrm>
            <a:off x="4673600" y="2692400"/>
            <a:ext cx="406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39D3C3"/>
                </a:solidFill>
                <a:latin typeface="Roboto Mono"/>
                <a:ea typeface="Roboto Mono"/>
                <a:cs typeface="Roboto Mono"/>
                <a:sym typeface="Roboto Mono"/>
              </a:rPr>
              <a:t>09</a:t>
            </a:r>
            <a:endParaRPr b="1" sz="900">
              <a:solidFill>
                <a:srgbClr val="39D3C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54" name="Google Shape;354;p23"/>
          <p:cNvSpPr txBox="1"/>
          <p:nvPr/>
        </p:nvSpPr>
        <p:spPr>
          <a:xfrm>
            <a:off x="5156200" y="2743200"/>
            <a:ext cx="36831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39D3C3"/>
                </a:solidFill>
                <a:latin typeface="Roboto Mono"/>
                <a:ea typeface="Roboto Mono"/>
                <a:cs typeface="Roboto Mono"/>
                <a:sym typeface="Roboto Mono"/>
              </a:rPr>
              <a:t>Create /opt/app directory</a:t>
            </a:r>
            <a:endParaRPr b="1" sz="900">
              <a:solidFill>
                <a:srgbClr val="39D3C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55" name="Google Shape;355;p23"/>
          <p:cNvSpPr txBox="1"/>
          <p:nvPr/>
        </p:nvSpPr>
        <p:spPr>
          <a:xfrm>
            <a:off x="5156200" y="2997200"/>
            <a:ext cx="36831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Deployment target - owned by user</a:t>
            </a:r>
            <a:endParaRPr sz="8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56" name="Google Shape;356;p23"/>
          <p:cNvSpPr/>
          <p:nvPr/>
        </p:nvSpPr>
        <p:spPr>
          <a:xfrm>
            <a:off x="4673600" y="3327400"/>
            <a:ext cx="4317900" cy="5334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23"/>
          <p:cNvSpPr/>
          <p:nvPr/>
        </p:nvSpPr>
        <p:spPr>
          <a:xfrm>
            <a:off x="4673600" y="3327400"/>
            <a:ext cx="406500" cy="5334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23"/>
          <p:cNvSpPr txBox="1"/>
          <p:nvPr/>
        </p:nvSpPr>
        <p:spPr>
          <a:xfrm>
            <a:off x="4673600" y="3327400"/>
            <a:ext cx="406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3FB950"/>
                </a:solidFill>
                <a:latin typeface="Roboto Mono"/>
                <a:ea typeface="Roboto Mono"/>
                <a:cs typeface="Roboto Mono"/>
                <a:sym typeface="Roboto Mono"/>
              </a:rPr>
              <a:t>10</a:t>
            </a:r>
            <a:endParaRPr b="1" sz="900">
              <a:solidFill>
                <a:srgbClr val="3FB95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59" name="Google Shape;359;p23"/>
          <p:cNvSpPr txBox="1"/>
          <p:nvPr/>
        </p:nvSpPr>
        <p:spPr>
          <a:xfrm>
            <a:off x="5156200" y="3378200"/>
            <a:ext cx="36831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3FB950"/>
                </a:solidFill>
                <a:latin typeface="Roboto Mono"/>
                <a:ea typeface="Roboto Mono"/>
                <a:cs typeface="Roboto Mono"/>
                <a:sym typeface="Roboto Mono"/>
              </a:rPr>
              <a:t>Verify installation</a:t>
            </a:r>
            <a:endParaRPr b="1" sz="900">
              <a:solidFill>
                <a:srgbClr val="3FB95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60" name="Google Shape;360;p23"/>
          <p:cNvSpPr txBox="1"/>
          <p:nvPr/>
        </p:nvSpPr>
        <p:spPr>
          <a:xfrm>
            <a:off x="5156200" y="3632200"/>
            <a:ext cx="36831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docker --version  systemctl status</a:t>
            </a:r>
            <a:endParaRPr sz="8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61" name="Google Shape;361;p23"/>
          <p:cNvSpPr txBox="1"/>
          <p:nvPr/>
        </p:nvSpPr>
        <p:spPr>
          <a:xfrm>
            <a:off x="8382000" y="4864100"/>
            <a:ext cx="6351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11 / 22</a:t>
            </a:r>
            <a:endParaRPr sz="8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4"/>
          <p:cNvSpPr/>
          <p:nvPr/>
        </p:nvSpPr>
        <p:spPr>
          <a:xfrm>
            <a:off x="0" y="0"/>
            <a:ext cx="9144000" cy="1017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24"/>
          <p:cNvSpPr txBox="1"/>
          <p:nvPr/>
        </p:nvSpPr>
        <p:spPr>
          <a:xfrm>
            <a:off x="254000" y="355600"/>
            <a:ext cx="86361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3FB950"/>
                </a:solidFill>
                <a:latin typeface="Roboto Mono"/>
                <a:ea typeface="Roboto Mono"/>
                <a:cs typeface="Roboto Mono"/>
                <a:sym typeface="Roboto Mono"/>
              </a:rPr>
              <a:t>PART 3</a:t>
            </a:r>
            <a:endParaRPr b="1" sz="1000">
              <a:solidFill>
                <a:srgbClr val="3FB95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68" name="Google Shape;368;p24"/>
          <p:cNvSpPr txBox="1"/>
          <p:nvPr/>
        </p:nvSpPr>
        <p:spPr>
          <a:xfrm>
            <a:off x="254000" y="787400"/>
            <a:ext cx="86361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Docker Container Deployment</a:t>
            </a:r>
            <a:endParaRPr b="1" sz="32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69" name="Google Shape;369;p24"/>
          <p:cNvSpPr txBox="1"/>
          <p:nvPr/>
        </p:nvSpPr>
        <p:spPr>
          <a:xfrm>
            <a:off x="254000" y="1549400"/>
            <a:ext cx="86361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3FB950"/>
                </a:solidFill>
                <a:latin typeface="Roboto Mono"/>
                <a:ea typeface="Roboto Mono"/>
                <a:cs typeface="Roboto Mono"/>
                <a:sym typeface="Roboto Mono"/>
              </a:rPr>
              <a:t>Tools: Docker + Nginx + Ansible</a:t>
            </a:r>
            <a:endParaRPr sz="1300">
              <a:solidFill>
                <a:srgbClr val="3FB95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370" name="Google Shape;370;p24"/>
          <p:cNvCxnSpPr/>
          <p:nvPr/>
        </p:nvCxnSpPr>
        <p:spPr>
          <a:xfrm>
            <a:off x="254000" y="2006600"/>
            <a:ext cx="8636100" cy="0"/>
          </a:xfrm>
          <a:prstGeom prst="straightConnector1">
            <a:avLst/>
          </a:prstGeom>
          <a:noFill/>
          <a:ln cap="flat" cmpd="sng" w="12700">
            <a:solidFill>
              <a:srgbClr val="3FB95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1" name="Google Shape;371;p24"/>
          <p:cNvSpPr txBox="1"/>
          <p:nvPr/>
        </p:nvSpPr>
        <p:spPr>
          <a:xfrm>
            <a:off x="508000" y="2159000"/>
            <a:ext cx="8127900" cy="88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Package the application in a container - runs identically on any machine.</a:t>
            </a:r>
            <a:endParaRPr sz="1200">
              <a:solidFill>
                <a:srgbClr val="E6EDF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Nginx serves the HTML page inside the container on port 80.</a:t>
            </a:r>
            <a:endParaRPr sz="1200">
              <a:solidFill>
                <a:srgbClr val="E6EDF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Deployed to the VM automatically using the Ansible deploy.yml playbook.</a:t>
            </a:r>
            <a:endParaRPr sz="1200">
              <a:solidFill>
                <a:srgbClr val="E6EDF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72" name="Google Shape;372;p24"/>
          <p:cNvSpPr txBox="1"/>
          <p:nvPr/>
        </p:nvSpPr>
        <p:spPr>
          <a:xfrm>
            <a:off x="254000" y="3225800"/>
            <a:ext cx="8636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Used by Google  ·  Amazon  ·  Netflix</a:t>
            </a:r>
            <a:endParaRPr i="1" sz="10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73" name="Google Shape;373;p24"/>
          <p:cNvSpPr txBox="1"/>
          <p:nvPr/>
        </p:nvSpPr>
        <p:spPr>
          <a:xfrm>
            <a:off x="8382000" y="4864100"/>
            <a:ext cx="6351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12 / 22</a:t>
            </a:r>
            <a:endParaRPr sz="8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5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25"/>
          <p:cNvSpPr txBox="1"/>
          <p:nvPr/>
        </p:nvSpPr>
        <p:spPr>
          <a:xfrm>
            <a:off x="254000" y="127000"/>
            <a:ext cx="5079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3FB950"/>
                </a:solidFill>
                <a:latin typeface="Roboto Mono"/>
                <a:ea typeface="Roboto Mono"/>
                <a:cs typeface="Roboto Mono"/>
                <a:sym typeface="Roboto Mono"/>
              </a:rPr>
              <a:t>PART 3  -  DOCKER</a:t>
            </a:r>
            <a:endParaRPr b="1" sz="900">
              <a:solidFill>
                <a:srgbClr val="3FB95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80" name="Google Shape;380;p25"/>
          <p:cNvSpPr txBox="1"/>
          <p:nvPr/>
        </p:nvSpPr>
        <p:spPr>
          <a:xfrm>
            <a:off x="254000" y="177800"/>
            <a:ext cx="86361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Dockerfile Breakdown</a:t>
            </a:r>
            <a:endParaRPr b="1" sz="22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381" name="Google Shape;381;p25"/>
          <p:cNvCxnSpPr/>
          <p:nvPr/>
        </p:nvCxnSpPr>
        <p:spPr>
          <a:xfrm>
            <a:off x="254000" y="685800"/>
            <a:ext cx="8636100" cy="0"/>
          </a:xfrm>
          <a:prstGeom prst="straightConnector1">
            <a:avLst/>
          </a:prstGeom>
          <a:noFill/>
          <a:ln cap="flat" cmpd="sng" w="12700">
            <a:solidFill>
              <a:srgbClr val="1F293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2" name="Google Shape;382;p25"/>
          <p:cNvSpPr/>
          <p:nvPr/>
        </p:nvSpPr>
        <p:spPr>
          <a:xfrm>
            <a:off x="254000" y="787400"/>
            <a:ext cx="8636100" cy="5334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5"/>
          <p:cNvSpPr/>
          <p:nvPr/>
        </p:nvSpPr>
        <p:spPr>
          <a:xfrm>
            <a:off x="254000" y="787400"/>
            <a:ext cx="4013100" cy="5334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25"/>
          <p:cNvSpPr txBox="1"/>
          <p:nvPr/>
        </p:nvSpPr>
        <p:spPr>
          <a:xfrm>
            <a:off x="355600" y="787400"/>
            <a:ext cx="3784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3FB950"/>
                </a:solidFill>
                <a:latin typeface="Roboto Mono"/>
                <a:ea typeface="Roboto Mono"/>
                <a:cs typeface="Roboto Mono"/>
                <a:sym typeface="Roboto Mono"/>
              </a:rPr>
              <a:t>FROM nginx:alpine</a:t>
            </a:r>
            <a:endParaRPr b="1" sz="900">
              <a:solidFill>
                <a:srgbClr val="3FB95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85" name="Google Shape;385;p25"/>
          <p:cNvSpPr txBox="1"/>
          <p:nvPr/>
        </p:nvSpPr>
        <p:spPr>
          <a:xfrm>
            <a:off x="4343400" y="787400"/>
            <a:ext cx="4419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→  Base image - 23MB vs 140MB for full Nginx image</a:t>
            </a:r>
            <a:endParaRPr sz="1000">
              <a:solidFill>
                <a:srgbClr val="E6EDF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86" name="Google Shape;386;p25"/>
          <p:cNvSpPr/>
          <p:nvPr/>
        </p:nvSpPr>
        <p:spPr>
          <a:xfrm>
            <a:off x="254000" y="1422400"/>
            <a:ext cx="8636100" cy="5334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25"/>
          <p:cNvSpPr/>
          <p:nvPr/>
        </p:nvSpPr>
        <p:spPr>
          <a:xfrm>
            <a:off x="254000" y="1422400"/>
            <a:ext cx="4013100" cy="5334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25"/>
          <p:cNvSpPr txBox="1"/>
          <p:nvPr/>
        </p:nvSpPr>
        <p:spPr>
          <a:xfrm>
            <a:off x="355600" y="1422400"/>
            <a:ext cx="3784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85149"/>
                </a:solidFill>
                <a:latin typeface="Roboto Mono"/>
                <a:ea typeface="Roboto Mono"/>
                <a:cs typeface="Roboto Mono"/>
                <a:sym typeface="Roboto Mono"/>
              </a:rPr>
              <a:t>RUN rm -rf /usr/share/nginx/html/*</a:t>
            </a:r>
            <a:endParaRPr b="1" sz="900">
              <a:solidFill>
                <a:srgbClr val="F85149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89" name="Google Shape;389;p25"/>
          <p:cNvSpPr txBox="1"/>
          <p:nvPr/>
        </p:nvSpPr>
        <p:spPr>
          <a:xfrm>
            <a:off x="4343400" y="1422400"/>
            <a:ext cx="4419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→  Remove default Nginx welcome page</a:t>
            </a:r>
            <a:endParaRPr sz="1000">
              <a:solidFill>
                <a:srgbClr val="E6EDF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90" name="Google Shape;390;p25"/>
          <p:cNvSpPr/>
          <p:nvPr/>
        </p:nvSpPr>
        <p:spPr>
          <a:xfrm>
            <a:off x="254000" y="2057400"/>
            <a:ext cx="8636100" cy="5334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25"/>
          <p:cNvSpPr/>
          <p:nvPr/>
        </p:nvSpPr>
        <p:spPr>
          <a:xfrm>
            <a:off x="254000" y="2057400"/>
            <a:ext cx="4013100" cy="5334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25"/>
          <p:cNvSpPr txBox="1"/>
          <p:nvPr/>
        </p:nvSpPr>
        <p:spPr>
          <a:xfrm>
            <a:off x="355600" y="2057400"/>
            <a:ext cx="3784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58A6FF"/>
                </a:solidFill>
                <a:latin typeface="Roboto Mono"/>
                <a:ea typeface="Roboto Mono"/>
                <a:cs typeface="Roboto Mono"/>
                <a:sym typeface="Roboto Mono"/>
              </a:rPr>
              <a:t>COPY src/ /usr/share/nginx/html/</a:t>
            </a:r>
            <a:endParaRPr b="1" sz="900">
              <a:solidFill>
                <a:srgbClr val="58A6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93" name="Google Shape;393;p25"/>
          <p:cNvSpPr txBox="1"/>
          <p:nvPr/>
        </p:nvSpPr>
        <p:spPr>
          <a:xfrm>
            <a:off x="4343400" y="2057400"/>
            <a:ext cx="4419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→  Copy our HTML into the directory Nginx serves</a:t>
            </a:r>
            <a:endParaRPr sz="1000">
              <a:solidFill>
                <a:srgbClr val="E6EDF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94" name="Google Shape;394;p25"/>
          <p:cNvSpPr/>
          <p:nvPr/>
        </p:nvSpPr>
        <p:spPr>
          <a:xfrm>
            <a:off x="254000" y="2692400"/>
            <a:ext cx="8636100" cy="5334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25"/>
          <p:cNvSpPr/>
          <p:nvPr/>
        </p:nvSpPr>
        <p:spPr>
          <a:xfrm>
            <a:off x="254000" y="2692400"/>
            <a:ext cx="4013100" cy="5334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25"/>
          <p:cNvSpPr txBox="1"/>
          <p:nvPr/>
        </p:nvSpPr>
        <p:spPr>
          <a:xfrm>
            <a:off x="355600" y="2692400"/>
            <a:ext cx="3784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58A6FF"/>
                </a:solidFill>
                <a:latin typeface="Roboto Mono"/>
                <a:ea typeface="Roboto Mono"/>
                <a:cs typeface="Roboto Mono"/>
                <a:sym typeface="Roboto Mono"/>
              </a:rPr>
              <a:t>COPY nginx.conf /etc/nginx/conf.d/default.conf</a:t>
            </a:r>
            <a:endParaRPr b="1" sz="900">
              <a:solidFill>
                <a:srgbClr val="58A6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97" name="Google Shape;397;p25"/>
          <p:cNvSpPr txBox="1"/>
          <p:nvPr/>
        </p:nvSpPr>
        <p:spPr>
          <a:xfrm>
            <a:off x="4343400" y="2692400"/>
            <a:ext cx="4419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→  Replace default config with our custom Nginx config</a:t>
            </a:r>
            <a:endParaRPr sz="1000">
              <a:solidFill>
                <a:srgbClr val="E6EDF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98" name="Google Shape;398;p25"/>
          <p:cNvSpPr/>
          <p:nvPr/>
        </p:nvSpPr>
        <p:spPr>
          <a:xfrm>
            <a:off x="254000" y="3327400"/>
            <a:ext cx="8636100" cy="5334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25"/>
          <p:cNvSpPr/>
          <p:nvPr/>
        </p:nvSpPr>
        <p:spPr>
          <a:xfrm>
            <a:off x="254000" y="3327400"/>
            <a:ext cx="4013100" cy="5334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25"/>
          <p:cNvSpPr txBox="1"/>
          <p:nvPr/>
        </p:nvSpPr>
        <p:spPr>
          <a:xfrm>
            <a:off x="355600" y="3327400"/>
            <a:ext cx="3784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0C674"/>
                </a:solidFill>
                <a:latin typeface="Roboto Mono"/>
                <a:ea typeface="Roboto Mono"/>
                <a:cs typeface="Roboto Mono"/>
                <a:sym typeface="Roboto Mono"/>
              </a:rPr>
              <a:t>EXPOSE 80</a:t>
            </a:r>
            <a:endParaRPr b="1" sz="900">
              <a:solidFill>
                <a:srgbClr val="F0C674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01" name="Google Shape;401;p25"/>
          <p:cNvSpPr txBox="1"/>
          <p:nvPr/>
        </p:nvSpPr>
        <p:spPr>
          <a:xfrm>
            <a:off x="4343400" y="3327400"/>
            <a:ext cx="4419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→  Declare the port the container listens on</a:t>
            </a:r>
            <a:endParaRPr sz="1000">
              <a:solidFill>
                <a:srgbClr val="E6EDF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02" name="Google Shape;402;p25"/>
          <p:cNvSpPr/>
          <p:nvPr/>
        </p:nvSpPr>
        <p:spPr>
          <a:xfrm>
            <a:off x="254000" y="3962400"/>
            <a:ext cx="8636100" cy="5334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25"/>
          <p:cNvSpPr/>
          <p:nvPr/>
        </p:nvSpPr>
        <p:spPr>
          <a:xfrm>
            <a:off x="254000" y="3962400"/>
            <a:ext cx="4013100" cy="5334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25"/>
          <p:cNvSpPr txBox="1"/>
          <p:nvPr/>
        </p:nvSpPr>
        <p:spPr>
          <a:xfrm>
            <a:off x="355600" y="3962400"/>
            <a:ext cx="3784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39D3C3"/>
                </a:solidFill>
                <a:latin typeface="Roboto Mono"/>
                <a:ea typeface="Roboto Mono"/>
                <a:cs typeface="Roboto Mono"/>
                <a:sym typeface="Roboto Mono"/>
              </a:rPr>
              <a:t>CMD ["nginx", "-g", "daemon off;"]</a:t>
            </a:r>
            <a:endParaRPr b="1" sz="900">
              <a:solidFill>
                <a:srgbClr val="39D3C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05" name="Google Shape;405;p25"/>
          <p:cNvSpPr txBox="1"/>
          <p:nvPr/>
        </p:nvSpPr>
        <p:spPr>
          <a:xfrm>
            <a:off x="4343400" y="3962400"/>
            <a:ext cx="4419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→  Start Nginx in foreground - keeps container running</a:t>
            </a:r>
            <a:endParaRPr sz="1000">
              <a:solidFill>
                <a:srgbClr val="E6EDF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06" name="Google Shape;406;p25"/>
          <p:cNvSpPr txBox="1"/>
          <p:nvPr/>
        </p:nvSpPr>
        <p:spPr>
          <a:xfrm>
            <a:off x="8382000" y="4864100"/>
            <a:ext cx="6351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13 / 22</a:t>
            </a:r>
            <a:endParaRPr sz="8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6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26"/>
          <p:cNvSpPr txBox="1"/>
          <p:nvPr/>
        </p:nvSpPr>
        <p:spPr>
          <a:xfrm>
            <a:off x="254000" y="127000"/>
            <a:ext cx="5079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3FB950"/>
                </a:solidFill>
                <a:latin typeface="Roboto Mono"/>
                <a:ea typeface="Roboto Mono"/>
                <a:cs typeface="Roboto Mono"/>
                <a:sym typeface="Roboto Mono"/>
              </a:rPr>
              <a:t>PART 3  -  DOCKER</a:t>
            </a:r>
            <a:endParaRPr b="1" sz="900">
              <a:solidFill>
                <a:srgbClr val="3FB95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13" name="Google Shape;413;p26"/>
          <p:cNvSpPr txBox="1"/>
          <p:nvPr/>
        </p:nvSpPr>
        <p:spPr>
          <a:xfrm>
            <a:off x="254000" y="177800"/>
            <a:ext cx="86361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How Traffic Reaches the App</a:t>
            </a:r>
            <a:endParaRPr b="1" sz="22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414" name="Google Shape;414;p26"/>
          <p:cNvCxnSpPr/>
          <p:nvPr/>
        </p:nvCxnSpPr>
        <p:spPr>
          <a:xfrm>
            <a:off x="254000" y="685800"/>
            <a:ext cx="8636100" cy="0"/>
          </a:xfrm>
          <a:prstGeom prst="straightConnector1">
            <a:avLst/>
          </a:prstGeom>
          <a:noFill/>
          <a:ln cap="flat" cmpd="sng" w="12700">
            <a:solidFill>
              <a:srgbClr val="1F293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5" name="Google Shape;415;p26"/>
          <p:cNvSpPr/>
          <p:nvPr/>
        </p:nvSpPr>
        <p:spPr>
          <a:xfrm>
            <a:off x="203200" y="863600"/>
            <a:ext cx="1346100" cy="1016100"/>
          </a:xfrm>
          <a:prstGeom prst="rect">
            <a:avLst/>
          </a:prstGeom>
          <a:solidFill>
            <a:srgbClr val="161B22"/>
          </a:solidFill>
          <a:ln cap="flat" cmpd="sng" w="19050">
            <a:solidFill>
              <a:srgbClr val="F851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26"/>
          <p:cNvSpPr txBox="1"/>
          <p:nvPr/>
        </p:nvSpPr>
        <p:spPr>
          <a:xfrm>
            <a:off x="203200" y="965200"/>
            <a:ext cx="13461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85149"/>
                </a:solidFill>
                <a:latin typeface="Roboto Mono"/>
                <a:ea typeface="Roboto Mono"/>
                <a:cs typeface="Roboto Mono"/>
                <a:sym typeface="Roboto Mono"/>
              </a:rPr>
              <a:t>Browser</a:t>
            </a:r>
            <a:endParaRPr b="1" sz="1000">
              <a:solidFill>
                <a:srgbClr val="F85149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17" name="Google Shape;417;p26"/>
          <p:cNvSpPr txBox="1"/>
          <p:nvPr/>
        </p:nvSpPr>
        <p:spPr>
          <a:xfrm>
            <a:off x="203200" y="1270000"/>
            <a:ext cx="13461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http://VM_IP</a:t>
            </a:r>
            <a:endParaRPr sz="8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:8080</a:t>
            </a:r>
            <a:endParaRPr sz="8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18" name="Google Shape;418;p26"/>
          <p:cNvSpPr txBox="1"/>
          <p:nvPr/>
        </p:nvSpPr>
        <p:spPr>
          <a:xfrm>
            <a:off x="1574800" y="1219200"/>
            <a:ext cx="1524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→</a:t>
            </a:r>
            <a:endParaRPr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19" name="Google Shape;419;p26"/>
          <p:cNvSpPr/>
          <p:nvPr/>
        </p:nvSpPr>
        <p:spPr>
          <a:xfrm>
            <a:off x="1689100" y="863600"/>
            <a:ext cx="1346100" cy="1016100"/>
          </a:xfrm>
          <a:prstGeom prst="rect">
            <a:avLst/>
          </a:prstGeom>
          <a:solidFill>
            <a:srgbClr val="161B22"/>
          </a:solidFill>
          <a:ln cap="flat" cmpd="sng" w="19050">
            <a:solidFill>
              <a:srgbClr val="F0C6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26"/>
          <p:cNvSpPr txBox="1"/>
          <p:nvPr/>
        </p:nvSpPr>
        <p:spPr>
          <a:xfrm>
            <a:off x="1689100" y="965200"/>
            <a:ext cx="13461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0C674"/>
                </a:solidFill>
                <a:latin typeface="Roboto Mono"/>
                <a:ea typeface="Roboto Mono"/>
                <a:cs typeface="Roboto Mono"/>
                <a:sym typeface="Roboto Mono"/>
              </a:rPr>
              <a:t>Azure NSG</a:t>
            </a:r>
            <a:endParaRPr b="1" sz="1000">
              <a:solidFill>
                <a:srgbClr val="F0C674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21" name="Google Shape;421;p26"/>
          <p:cNvSpPr txBox="1"/>
          <p:nvPr/>
        </p:nvSpPr>
        <p:spPr>
          <a:xfrm>
            <a:off x="1689100" y="1270000"/>
            <a:ext cx="13461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Port 8080</a:t>
            </a:r>
            <a:endParaRPr sz="8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inbound rule</a:t>
            </a:r>
            <a:endParaRPr sz="8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22" name="Google Shape;422;p26"/>
          <p:cNvSpPr txBox="1"/>
          <p:nvPr/>
        </p:nvSpPr>
        <p:spPr>
          <a:xfrm>
            <a:off x="3060700" y="1219200"/>
            <a:ext cx="1524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→</a:t>
            </a:r>
            <a:endParaRPr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23" name="Google Shape;423;p26"/>
          <p:cNvSpPr/>
          <p:nvPr/>
        </p:nvSpPr>
        <p:spPr>
          <a:xfrm>
            <a:off x="3175000" y="863600"/>
            <a:ext cx="1346100" cy="1016100"/>
          </a:xfrm>
          <a:prstGeom prst="rect">
            <a:avLst/>
          </a:prstGeom>
          <a:solidFill>
            <a:srgbClr val="161B22"/>
          </a:solidFill>
          <a:ln cap="flat" cmpd="sng" w="1905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26"/>
          <p:cNvSpPr txBox="1"/>
          <p:nvPr/>
        </p:nvSpPr>
        <p:spPr>
          <a:xfrm>
            <a:off x="3175000" y="965200"/>
            <a:ext cx="13461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58A6FF"/>
                </a:solidFill>
                <a:latin typeface="Roboto Mono"/>
                <a:ea typeface="Roboto Mono"/>
                <a:cs typeface="Roboto Mono"/>
                <a:sym typeface="Roboto Mono"/>
              </a:rPr>
              <a:t>Azure VM</a:t>
            </a:r>
            <a:endParaRPr b="1" sz="1000">
              <a:solidFill>
                <a:srgbClr val="58A6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25" name="Google Shape;425;p26"/>
          <p:cNvSpPr txBox="1"/>
          <p:nvPr/>
        </p:nvSpPr>
        <p:spPr>
          <a:xfrm>
            <a:off x="3175000" y="1270000"/>
            <a:ext cx="13461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Port 8080</a:t>
            </a:r>
            <a:endParaRPr sz="8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Norway East</a:t>
            </a:r>
            <a:endParaRPr sz="8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26" name="Google Shape;426;p26"/>
          <p:cNvSpPr txBox="1"/>
          <p:nvPr/>
        </p:nvSpPr>
        <p:spPr>
          <a:xfrm>
            <a:off x="4546600" y="1219200"/>
            <a:ext cx="1524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→</a:t>
            </a:r>
            <a:endParaRPr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27" name="Google Shape;427;p26"/>
          <p:cNvSpPr/>
          <p:nvPr/>
        </p:nvSpPr>
        <p:spPr>
          <a:xfrm>
            <a:off x="4660900" y="863600"/>
            <a:ext cx="1346100" cy="1016100"/>
          </a:xfrm>
          <a:prstGeom prst="rect">
            <a:avLst/>
          </a:prstGeom>
          <a:solidFill>
            <a:srgbClr val="161B22"/>
          </a:solidFill>
          <a:ln cap="flat" cmpd="sng" w="1905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26"/>
          <p:cNvSpPr txBox="1"/>
          <p:nvPr/>
        </p:nvSpPr>
        <p:spPr>
          <a:xfrm>
            <a:off x="4660900" y="965200"/>
            <a:ext cx="13461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3FB950"/>
                </a:solidFill>
                <a:latin typeface="Roboto Mono"/>
                <a:ea typeface="Roboto Mono"/>
                <a:cs typeface="Roboto Mono"/>
                <a:sym typeface="Roboto Mono"/>
              </a:rPr>
              <a:t>Docker</a:t>
            </a:r>
            <a:endParaRPr b="1" sz="1000">
              <a:solidFill>
                <a:srgbClr val="3FB95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29" name="Google Shape;429;p26"/>
          <p:cNvSpPr txBox="1"/>
          <p:nvPr/>
        </p:nvSpPr>
        <p:spPr>
          <a:xfrm>
            <a:off x="4660900" y="1270000"/>
            <a:ext cx="13461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8080 → 80</a:t>
            </a:r>
            <a:endParaRPr sz="8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Port mapping</a:t>
            </a:r>
            <a:endParaRPr sz="8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30" name="Google Shape;430;p26"/>
          <p:cNvSpPr txBox="1"/>
          <p:nvPr/>
        </p:nvSpPr>
        <p:spPr>
          <a:xfrm>
            <a:off x="6032500" y="1219200"/>
            <a:ext cx="1524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→</a:t>
            </a:r>
            <a:endParaRPr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31" name="Google Shape;431;p26"/>
          <p:cNvSpPr/>
          <p:nvPr/>
        </p:nvSpPr>
        <p:spPr>
          <a:xfrm>
            <a:off x="6146800" y="863600"/>
            <a:ext cx="1346100" cy="1016100"/>
          </a:xfrm>
          <a:prstGeom prst="rect">
            <a:avLst/>
          </a:prstGeom>
          <a:solidFill>
            <a:srgbClr val="161B22"/>
          </a:solidFill>
          <a:ln cap="flat" cmpd="sng" w="19050">
            <a:solidFill>
              <a:srgbClr val="39D3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26"/>
          <p:cNvSpPr txBox="1"/>
          <p:nvPr/>
        </p:nvSpPr>
        <p:spPr>
          <a:xfrm>
            <a:off x="6146800" y="965200"/>
            <a:ext cx="13461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39D3C3"/>
                </a:solidFill>
                <a:latin typeface="Roboto Mono"/>
                <a:ea typeface="Roboto Mono"/>
                <a:cs typeface="Roboto Mono"/>
                <a:sym typeface="Roboto Mono"/>
              </a:rPr>
              <a:t>Nginx</a:t>
            </a:r>
            <a:endParaRPr b="1" sz="1000">
              <a:solidFill>
                <a:srgbClr val="39D3C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33" name="Google Shape;433;p26"/>
          <p:cNvSpPr txBox="1"/>
          <p:nvPr/>
        </p:nvSpPr>
        <p:spPr>
          <a:xfrm>
            <a:off x="6146800" y="1270000"/>
            <a:ext cx="13461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Port 80</a:t>
            </a:r>
            <a:endParaRPr sz="8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Inside container</a:t>
            </a:r>
            <a:endParaRPr sz="8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34" name="Google Shape;434;p26"/>
          <p:cNvSpPr txBox="1"/>
          <p:nvPr/>
        </p:nvSpPr>
        <p:spPr>
          <a:xfrm>
            <a:off x="7518400" y="1219200"/>
            <a:ext cx="1524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→</a:t>
            </a:r>
            <a:endParaRPr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35" name="Google Shape;435;p26"/>
          <p:cNvSpPr/>
          <p:nvPr/>
        </p:nvSpPr>
        <p:spPr>
          <a:xfrm>
            <a:off x="7632700" y="863600"/>
            <a:ext cx="1346100" cy="1016100"/>
          </a:xfrm>
          <a:prstGeom prst="rect">
            <a:avLst/>
          </a:prstGeom>
          <a:solidFill>
            <a:srgbClr val="161B22"/>
          </a:solidFill>
          <a:ln cap="flat" cmpd="sng" w="1905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26"/>
          <p:cNvSpPr txBox="1"/>
          <p:nvPr/>
        </p:nvSpPr>
        <p:spPr>
          <a:xfrm>
            <a:off x="7632700" y="965200"/>
            <a:ext cx="13461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58A6FF"/>
                </a:solidFill>
                <a:latin typeface="Roboto Mono"/>
                <a:ea typeface="Roboto Mono"/>
                <a:cs typeface="Roboto Mono"/>
                <a:sym typeface="Roboto Mono"/>
              </a:rPr>
              <a:t>index.html</a:t>
            </a:r>
            <a:endParaRPr b="1" sz="1000">
              <a:solidFill>
                <a:srgbClr val="58A6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37" name="Google Shape;437;p26"/>
          <p:cNvSpPr txBox="1"/>
          <p:nvPr/>
        </p:nvSpPr>
        <p:spPr>
          <a:xfrm>
            <a:off x="7632700" y="1270000"/>
            <a:ext cx="13461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Response</a:t>
            </a:r>
            <a:endParaRPr sz="8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HTTP 200 ✓</a:t>
            </a:r>
            <a:endParaRPr sz="8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38" name="Google Shape;438;p26"/>
          <p:cNvSpPr/>
          <p:nvPr/>
        </p:nvSpPr>
        <p:spPr>
          <a:xfrm>
            <a:off x="254000" y="2057400"/>
            <a:ext cx="8636100" cy="609600"/>
          </a:xfrm>
          <a:prstGeom prst="rect">
            <a:avLst/>
          </a:prstGeom>
          <a:solidFill>
            <a:srgbClr val="161B22"/>
          </a:solidFill>
          <a:ln cap="flat" cmpd="sng" w="1905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26"/>
          <p:cNvSpPr txBox="1"/>
          <p:nvPr/>
        </p:nvSpPr>
        <p:spPr>
          <a:xfrm>
            <a:off x="431800" y="2133600"/>
            <a:ext cx="27939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3FB950"/>
                </a:solidFill>
                <a:latin typeface="Roboto Mono"/>
                <a:ea typeface="Roboto Mono"/>
                <a:cs typeface="Roboto Mono"/>
                <a:sym typeface="Roboto Mono"/>
              </a:rPr>
              <a:t>docker-compose.yml</a:t>
            </a:r>
            <a:endParaRPr b="1" sz="1000">
              <a:solidFill>
                <a:srgbClr val="3FB95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40" name="Google Shape;440;p26"/>
          <p:cNvSpPr txBox="1"/>
          <p:nvPr/>
        </p:nvSpPr>
        <p:spPr>
          <a:xfrm>
            <a:off x="431800" y="2362200"/>
            <a:ext cx="8331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container_name: webapp  |  ports: "8080:80"  |  restart: always</a:t>
            </a:r>
            <a:endParaRPr sz="900">
              <a:solidFill>
                <a:srgbClr val="E6EDF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41" name="Google Shape;441;p26"/>
          <p:cNvSpPr/>
          <p:nvPr/>
        </p:nvSpPr>
        <p:spPr>
          <a:xfrm>
            <a:off x="254000" y="2794000"/>
            <a:ext cx="8636100" cy="1016100"/>
          </a:xfrm>
          <a:prstGeom prst="rect">
            <a:avLst/>
          </a:prstGeom>
          <a:solidFill>
            <a:srgbClr val="161B22"/>
          </a:solidFill>
          <a:ln cap="flat" cmpd="sng" w="1905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26"/>
          <p:cNvSpPr txBox="1"/>
          <p:nvPr/>
        </p:nvSpPr>
        <p:spPr>
          <a:xfrm>
            <a:off x="431800" y="2895600"/>
            <a:ext cx="50799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58A6FF"/>
                </a:solidFill>
                <a:latin typeface="Roboto Mono"/>
                <a:ea typeface="Roboto Mono"/>
                <a:cs typeface="Roboto Mono"/>
                <a:sym typeface="Roboto Mono"/>
              </a:rPr>
              <a:t>Ansible deploy.yml - Steps</a:t>
            </a:r>
            <a:endParaRPr b="1" sz="1000">
              <a:solidFill>
                <a:srgbClr val="58A6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43" name="Google Shape;443;p26"/>
          <p:cNvSpPr txBox="1"/>
          <p:nvPr/>
        </p:nvSpPr>
        <p:spPr>
          <a:xfrm>
            <a:off x="431800" y="3149600"/>
            <a:ext cx="83313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Create /opt/app  →  Copy app/ files  →  Remove old containers</a:t>
            </a:r>
            <a:endParaRPr sz="900">
              <a:solidFill>
                <a:srgbClr val="E6EDF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docker-compose build  →  docker-compose up  →  Wait 5s  →  Verify HTTP 200</a:t>
            </a:r>
            <a:endParaRPr sz="900">
              <a:solidFill>
                <a:srgbClr val="E6EDF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44" name="Google Shape;444;p26"/>
          <p:cNvSpPr txBox="1"/>
          <p:nvPr/>
        </p:nvSpPr>
        <p:spPr>
          <a:xfrm>
            <a:off x="8382000" y="4864100"/>
            <a:ext cx="6351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14 / 22</a:t>
            </a:r>
            <a:endParaRPr sz="8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27"/>
          <p:cNvSpPr/>
          <p:nvPr/>
        </p:nvSpPr>
        <p:spPr>
          <a:xfrm>
            <a:off x="0" y="0"/>
            <a:ext cx="9144000" cy="101700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27"/>
          <p:cNvSpPr txBox="1"/>
          <p:nvPr/>
        </p:nvSpPr>
        <p:spPr>
          <a:xfrm>
            <a:off x="254000" y="355600"/>
            <a:ext cx="86361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BC8CFF"/>
                </a:solidFill>
                <a:latin typeface="Roboto Mono"/>
                <a:ea typeface="Roboto Mono"/>
                <a:cs typeface="Roboto Mono"/>
                <a:sym typeface="Roboto Mono"/>
              </a:rPr>
              <a:t>PART 4</a:t>
            </a:r>
            <a:endParaRPr b="1" sz="1000">
              <a:solidFill>
                <a:srgbClr val="BC8C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51" name="Google Shape;451;p27"/>
          <p:cNvSpPr txBox="1"/>
          <p:nvPr/>
        </p:nvSpPr>
        <p:spPr>
          <a:xfrm>
            <a:off x="254000" y="787400"/>
            <a:ext cx="86361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CI/CD Pipeline Integration</a:t>
            </a:r>
            <a:endParaRPr b="1" sz="34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52" name="Google Shape;452;p27"/>
          <p:cNvSpPr txBox="1"/>
          <p:nvPr/>
        </p:nvSpPr>
        <p:spPr>
          <a:xfrm>
            <a:off x="254000" y="1549400"/>
            <a:ext cx="86361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C8CFF"/>
                </a:solidFill>
                <a:latin typeface="Roboto Mono"/>
                <a:ea typeface="Roboto Mono"/>
                <a:cs typeface="Roboto Mono"/>
                <a:sym typeface="Roboto Mono"/>
              </a:rPr>
              <a:t>Tool: GitHub Actions</a:t>
            </a:r>
            <a:endParaRPr sz="1300">
              <a:solidFill>
                <a:srgbClr val="BC8C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453" name="Google Shape;453;p27"/>
          <p:cNvCxnSpPr/>
          <p:nvPr/>
        </p:nvCxnSpPr>
        <p:spPr>
          <a:xfrm>
            <a:off x="254000" y="2006600"/>
            <a:ext cx="8636100" cy="0"/>
          </a:xfrm>
          <a:prstGeom prst="straightConnector1">
            <a:avLst/>
          </a:prstGeom>
          <a:noFill/>
          <a:ln cap="flat" cmpd="sng" w="12700">
            <a:solidFill>
              <a:srgbClr val="BC8C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4" name="Google Shape;454;p27"/>
          <p:cNvSpPr txBox="1"/>
          <p:nvPr/>
        </p:nvSpPr>
        <p:spPr>
          <a:xfrm>
            <a:off x="508000" y="2159000"/>
            <a:ext cx="8127900" cy="88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Push code to GitHub - application is live in under 2 minutes.</a:t>
            </a:r>
            <a:endParaRPr sz="1200">
              <a:solidFill>
                <a:srgbClr val="E6EDF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No manual SSH. No manual build. No manual deploy.</a:t>
            </a:r>
            <a:endParaRPr sz="1200">
              <a:solidFill>
                <a:srgbClr val="E6EDF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Every step logged and visible in GitHub Actions.</a:t>
            </a:r>
            <a:endParaRPr sz="1200">
              <a:solidFill>
                <a:srgbClr val="E6EDF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55" name="Google Shape;455;p27"/>
          <p:cNvSpPr txBox="1"/>
          <p:nvPr/>
        </p:nvSpPr>
        <p:spPr>
          <a:xfrm>
            <a:off x="8382000" y="4864100"/>
            <a:ext cx="6351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15 / 22</a:t>
            </a:r>
            <a:endParaRPr sz="8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8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28"/>
          <p:cNvSpPr txBox="1"/>
          <p:nvPr/>
        </p:nvSpPr>
        <p:spPr>
          <a:xfrm>
            <a:off x="254000" y="127000"/>
            <a:ext cx="5079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BC8CFF"/>
                </a:solidFill>
                <a:latin typeface="Roboto Mono"/>
                <a:ea typeface="Roboto Mono"/>
                <a:cs typeface="Roboto Mono"/>
                <a:sym typeface="Roboto Mono"/>
              </a:rPr>
              <a:t>PART 4  -  GITHUB ACTIONS</a:t>
            </a:r>
            <a:endParaRPr b="1" sz="900">
              <a:solidFill>
                <a:srgbClr val="BC8C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62" name="Google Shape;462;p28"/>
          <p:cNvSpPr txBox="1"/>
          <p:nvPr/>
        </p:nvSpPr>
        <p:spPr>
          <a:xfrm>
            <a:off x="254000" y="177800"/>
            <a:ext cx="86361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Pipeline Steps</a:t>
            </a:r>
            <a:endParaRPr b="1" sz="22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463" name="Google Shape;463;p28"/>
          <p:cNvCxnSpPr/>
          <p:nvPr/>
        </p:nvCxnSpPr>
        <p:spPr>
          <a:xfrm>
            <a:off x="254000" y="685800"/>
            <a:ext cx="8636100" cy="0"/>
          </a:xfrm>
          <a:prstGeom prst="straightConnector1">
            <a:avLst/>
          </a:prstGeom>
          <a:noFill/>
          <a:ln cap="flat" cmpd="sng" w="12700">
            <a:solidFill>
              <a:srgbClr val="1F293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4" name="Google Shape;464;p28"/>
          <p:cNvSpPr/>
          <p:nvPr/>
        </p:nvSpPr>
        <p:spPr>
          <a:xfrm>
            <a:off x="254000" y="787400"/>
            <a:ext cx="8636100" cy="4572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28"/>
          <p:cNvSpPr/>
          <p:nvPr/>
        </p:nvSpPr>
        <p:spPr>
          <a:xfrm>
            <a:off x="254000" y="787400"/>
            <a:ext cx="406500" cy="457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28"/>
          <p:cNvSpPr txBox="1"/>
          <p:nvPr/>
        </p:nvSpPr>
        <p:spPr>
          <a:xfrm>
            <a:off x="254000" y="787400"/>
            <a:ext cx="406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endParaRPr b="1" sz="12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67" name="Google Shape;467;p28"/>
          <p:cNvSpPr txBox="1"/>
          <p:nvPr/>
        </p:nvSpPr>
        <p:spPr>
          <a:xfrm>
            <a:off x="762000" y="825500"/>
            <a:ext cx="30480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Checkout repository</a:t>
            </a:r>
            <a:endParaRPr b="1" sz="10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68" name="Google Shape;468;p28"/>
          <p:cNvSpPr txBox="1"/>
          <p:nvPr/>
        </p:nvSpPr>
        <p:spPr>
          <a:xfrm>
            <a:off x="762000" y="1041400"/>
            <a:ext cx="8001000" cy="1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Runner gets access to app/ and Ansible/ folders</a:t>
            </a:r>
            <a:endParaRPr sz="8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69" name="Google Shape;469;p28"/>
          <p:cNvSpPr/>
          <p:nvPr/>
        </p:nvSpPr>
        <p:spPr>
          <a:xfrm>
            <a:off x="254000" y="1346200"/>
            <a:ext cx="8636100" cy="4572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28"/>
          <p:cNvSpPr/>
          <p:nvPr/>
        </p:nvSpPr>
        <p:spPr>
          <a:xfrm>
            <a:off x="254000" y="1346200"/>
            <a:ext cx="406500" cy="457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28"/>
          <p:cNvSpPr txBox="1"/>
          <p:nvPr/>
        </p:nvSpPr>
        <p:spPr>
          <a:xfrm>
            <a:off x="254000" y="1346200"/>
            <a:ext cx="406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58A6FF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endParaRPr b="1" sz="1200">
              <a:solidFill>
                <a:srgbClr val="58A6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72" name="Google Shape;472;p28"/>
          <p:cNvSpPr txBox="1"/>
          <p:nvPr/>
        </p:nvSpPr>
        <p:spPr>
          <a:xfrm>
            <a:off x="762000" y="1384300"/>
            <a:ext cx="30480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58A6FF"/>
                </a:solidFill>
                <a:latin typeface="Roboto Mono"/>
                <a:ea typeface="Roboto Mono"/>
                <a:cs typeface="Roboto Mono"/>
                <a:sym typeface="Roboto Mono"/>
              </a:rPr>
              <a:t>Install Ansible</a:t>
            </a:r>
            <a:endParaRPr b="1" sz="1000">
              <a:solidFill>
                <a:srgbClr val="58A6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73" name="Google Shape;473;p28"/>
          <p:cNvSpPr txBox="1"/>
          <p:nvPr/>
        </p:nvSpPr>
        <p:spPr>
          <a:xfrm>
            <a:off x="762000" y="1600200"/>
            <a:ext cx="8001000" cy="1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apt-get install ansible - runner is a fresh Ubuntu machine each run</a:t>
            </a:r>
            <a:endParaRPr sz="8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74" name="Google Shape;474;p28"/>
          <p:cNvSpPr/>
          <p:nvPr/>
        </p:nvSpPr>
        <p:spPr>
          <a:xfrm>
            <a:off x="254000" y="1905000"/>
            <a:ext cx="8636100" cy="4572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28"/>
          <p:cNvSpPr/>
          <p:nvPr/>
        </p:nvSpPr>
        <p:spPr>
          <a:xfrm>
            <a:off x="254000" y="1905000"/>
            <a:ext cx="406500" cy="457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28"/>
          <p:cNvSpPr txBox="1"/>
          <p:nvPr/>
        </p:nvSpPr>
        <p:spPr>
          <a:xfrm>
            <a:off x="254000" y="1905000"/>
            <a:ext cx="406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85149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endParaRPr b="1" sz="1200">
              <a:solidFill>
                <a:srgbClr val="F85149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77" name="Google Shape;477;p28"/>
          <p:cNvSpPr txBox="1"/>
          <p:nvPr/>
        </p:nvSpPr>
        <p:spPr>
          <a:xfrm>
            <a:off x="762000" y="1943100"/>
            <a:ext cx="30480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85149"/>
                </a:solidFill>
                <a:latin typeface="Roboto Mono"/>
                <a:ea typeface="Roboto Mono"/>
                <a:cs typeface="Roboto Mono"/>
                <a:sym typeface="Roboto Mono"/>
              </a:rPr>
              <a:t>Write SSH private key</a:t>
            </a:r>
            <a:endParaRPr b="1" sz="1000">
              <a:solidFill>
                <a:srgbClr val="F85149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78" name="Google Shape;478;p28"/>
          <p:cNvSpPr txBox="1"/>
          <p:nvPr/>
        </p:nvSpPr>
        <p:spPr>
          <a:xfrm>
            <a:off x="762000" y="2159000"/>
            <a:ext cx="8001000" cy="1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VM_SSH_KEY decoded from base64 → ~/.ssh/id_rsa  chmod 600</a:t>
            </a:r>
            <a:endParaRPr sz="8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79" name="Google Shape;479;p28"/>
          <p:cNvSpPr/>
          <p:nvPr/>
        </p:nvSpPr>
        <p:spPr>
          <a:xfrm>
            <a:off x="254000" y="2463800"/>
            <a:ext cx="8636100" cy="4572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28"/>
          <p:cNvSpPr/>
          <p:nvPr/>
        </p:nvSpPr>
        <p:spPr>
          <a:xfrm>
            <a:off x="254000" y="2463800"/>
            <a:ext cx="406500" cy="457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28"/>
          <p:cNvSpPr txBox="1"/>
          <p:nvPr/>
        </p:nvSpPr>
        <p:spPr>
          <a:xfrm>
            <a:off x="254000" y="2463800"/>
            <a:ext cx="406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0C674"/>
                </a:solidFill>
                <a:latin typeface="Roboto Mono"/>
                <a:ea typeface="Roboto Mono"/>
                <a:cs typeface="Roboto Mono"/>
                <a:sym typeface="Roboto Mono"/>
              </a:rPr>
              <a:t>4</a:t>
            </a:r>
            <a:endParaRPr b="1" sz="1200">
              <a:solidFill>
                <a:srgbClr val="F0C674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82" name="Google Shape;482;p28"/>
          <p:cNvSpPr txBox="1"/>
          <p:nvPr/>
        </p:nvSpPr>
        <p:spPr>
          <a:xfrm>
            <a:off x="762000" y="2501900"/>
            <a:ext cx="30480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0C674"/>
                </a:solidFill>
                <a:latin typeface="Roboto Mono"/>
                <a:ea typeface="Roboto Mono"/>
                <a:cs typeface="Roboto Mono"/>
                <a:sym typeface="Roboto Mono"/>
              </a:rPr>
              <a:t>ssh-keyscan</a:t>
            </a:r>
            <a:endParaRPr b="1" sz="1000">
              <a:solidFill>
                <a:srgbClr val="F0C674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83" name="Google Shape;483;p28"/>
          <p:cNvSpPr txBox="1"/>
          <p:nvPr/>
        </p:nvSpPr>
        <p:spPr>
          <a:xfrm>
            <a:off x="762000" y="2717800"/>
            <a:ext cx="8001000" cy="1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Add VM fingerprint to known_hosts - prevents SSH confirmation prompt</a:t>
            </a:r>
            <a:endParaRPr sz="8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84" name="Google Shape;484;p28"/>
          <p:cNvSpPr/>
          <p:nvPr/>
        </p:nvSpPr>
        <p:spPr>
          <a:xfrm>
            <a:off x="254000" y="3022600"/>
            <a:ext cx="8636100" cy="4572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28"/>
          <p:cNvSpPr/>
          <p:nvPr/>
        </p:nvSpPr>
        <p:spPr>
          <a:xfrm>
            <a:off x="254000" y="3022600"/>
            <a:ext cx="406500" cy="457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28"/>
          <p:cNvSpPr txBox="1"/>
          <p:nvPr/>
        </p:nvSpPr>
        <p:spPr>
          <a:xfrm>
            <a:off x="254000" y="3022600"/>
            <a:ext cx="406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0C674"/>
                </a:solidFill>
                <a:latin typeface="Roboto Mono"/>
                <a:ea typeface="Roboto Mono"/>
                <a:cs typeface="Roboto Mono"/>
                <a:sym typeface="Roboto Mono"/>
              </a:rPr>
              <a:t>5</a:t>
            </a:r>
            <a:endParaRPr b="1" sz="1200">
              <a:solidFill>
                <a:srgbClr val="F0C674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87" name="Google Shape;487;p28"/>
          <p:cNvSpPr txBox="1"/>
          <p:nvPr/>
        </p:nvSpPr>
        <p:spPr>
          <a:xfrm>
            <a:off x="762000" y="3060700"/>
            <a:ext cx="30480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0C674"/>
                </a:solidFill>
                <a:latin typeface="Roboto Mono"/>
                <a:ea typeface="Roboto Mono"/>
                <a:cs typeface="Roboto Mono"/>
                <a:sym typeface="Roboto Mono"/>
              </a:rPr>
              <a:t>Generate hosts.ini</a:t>
            </a:r>
            <a:endParaRPr b="1" sz="1000">
              <a:solidFill>
                <a:srgbClr val="F0C674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88" name="Google Shape;488;p28"/>
          <p:cNvSpPr txBox="1"/>
          <p:nvPr/>
        </p:nvSpPr>
        <p:spPr>
          <a:xfrm>
            <a:off x="762000" y="3276600"/>
            <a:ext cx="8001000" cy="1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VM_HOST and VM_USERNAME from secrets - IP never hardcoded in repo</a:t>
            </a:r>
            <a:endParaRPr sz="8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89" name="Google Shape;489;p28"/>
          <p:cNvSpPr/>
          <p:nvPr/>
        </p:nvSpPr>
        <p:spPr>
          <a:xfrm>
            <a:off x="254000" y="3581400"/>
            <a:ext cx="8636100" cy="4572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28"/>
          <p:cNvSpPr/>
          <p:nvPr/>
        </p:nvSpPr>
        <p:spPr>
          <a:xfrm>
            <a:off x="254000" y="3581400"/>
            <a:ext cx="406500" cy="457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28"/>
          <p:cNvSpPr txBox="1"/>
          <p:nvPr/>
        </p:nvSpPr>
        <p:spPr>
          <a:xfrm>
            <a:off x="254000" y="3581400"/>
            <a:ext cx="406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3FB950"/>
                </a:solidFill>
                <a:latin typeface="Roboto Mono"/>
                <a:ea typeface="Roboto Mono"/>
                <a:cs typeface="Roboto Mono"/>
                <a:sym typeface="Roboto Mono"/>
              </a:rPr>
              <a:t>6</a:t>
            </a:r>
            <a:endParaRPr b="1" sz="1200">
              <a:solidFill>
                <a:srgbClr val="3FB95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92" name="Google Shape;492;p28"/>
          <p:cNvSpPr txBox="1"/>
          <p:nvPr/>
        </p:nvSpPr>
        <p:spPr>
          <a:xfrm>
            <a:off x="762000" y="3619500"/>
            <a:ext cx="30480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3FB950"/>
                </a:solidFill>
                <a:latin typeface="Roboto Mono"/>
                <a:ea typeface="Roboto Mono"/>
                <a:cs typeface="Roboto Mono"/>
                <a:sym typeface="Roboto Mono"/>
              </a:rPr>
              <a:t>ansible-playbook deploy.yml  ★</a:t>
            </a:r>
            <a:endParaRPr b="1" sz="1000">
              <a:solidFill>
                <a:srgbClr val="3FB95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93" name="Google Shape;493;p28"/>
          <p:cNvSpPr txBox="1"/>
          <p:nvPr/>
        </p:nvSpPr>
        <p:spPr>
          <a:xfrm>
            <a:off x="762000" y="3835400"/>
            <a:ext cx="8001000" cy="1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Ansible connects to VM via SSH - runs all Docker deployment steps</a:t>
            </a:r>
            <a:endParaRPr sz="8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94" name="Google Shape;494;p28"/>
          <p:cNvSpPr/>
          <p:nvPr/>
        </p:nvSpPr>
        <p:spPr>
          <a:xfrm>
            <a:off x="254000" y="4140200"/>
            <a:ext cx="8636100" cy="4572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28"/>
          <p:cNvSpPr/>
          <p:nvPr/>
        </p:nvSpPr>
        <p:spPr>
          <a:xfrm>
            <a:off x="254000" y="4140200"/>
            <a:ext cx="406500" cy="457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28"/>
          <p:cNvSpPr txBox="1"/>
          <p:nvPr/>
        </p:nvSpPr>
        <p:spPr>
          <a:xfrm>
            <a:off x="254000" y="4140200"/>
            <a:ext cx="406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39D3C3"/>
                </a:solidFill>
                <a:latin typeface="Roboto Mono"/>
                <a:ea typeface="Roboto Mono"/>
                <a:cs typeface="Roboto Mono"/>
                <a:sym typeface="Roboto Mono"/>
              </a:rPr>
              <a:t>7</a:t>
            </a:r>
            <a:endParaRPr b="1" sz="1200">
              <a:solidFill>
                <a:srgbClr val="39D3C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97" name="Google Shape;497;p28"/>
          <p:cNvSpPr txBox="1"/>
          <p:nvPr/>
        </p:nvSpPr>
        <p:spPr>
          <a:xfrm>
            <a:off x="762000" y="4178300"/>
            <a:ext cx="30480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39D3C3"/>
                </a:solidFill>
                <a:latin typeface="Roboto Mono"/>
                <a:ea typeface="Roboto Mono"/>
                <a:cs typeface="Roboto Mono"/>
                <a:sym typeface="Roboto Mono"/>
              </a:rPr>
              <a:t>Print live URL</a:t>
            </a:r>
            <a:endParaRPr b="1" sz="1000">
              <a:solidFill>
                <a:srgbClr val="39D3C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98" name="Google Shape;498;p28"/>
          <p:cNvSpPr txBox="1"/>
          <p:nvPr/>
        </p:nvSpPr>
        <p:spPr>
          <a:xfrm>
            <a:off x="762000" y="4394200"/>
            <a:ext cx="8001000" cy="1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http://VM_IP:8080 printed to pipeline log</a:t>
            </a:r>
            <a:endParaRPr sz="8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99" name="Google Shape;499;p28"/>
          <p:cNvSpPr txBox="1"/>
          <p:nvPr/>
        </p:nvSpPr>
        <p:spPr>
          <a:xfrm>
            <a:off x="8382000" y="4864100"/>
            <a:ext cx="6351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16 / 22</a:t>
            </a:r>
            <a:endParaRPr sz="8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29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29"/>
          <p:cNvSpPr txBox="1"/>
          <p:nvPr/>
        </p:nvSpPr>
        <p:spPr>
          <a:xfrm>
            <a:off x="254000" y="127000"/>
            <a:ext cx="5079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BC8CFF"/>
                </a:solidFill>
                <a:latin typeface="Roboto Mono"/>
                <a:ea typeface="Roboto Mono"/>
                <a:cs typeface="Roboto Mono"/>
                <a:sym typeface="Roboto Mono"/>
              </a:rPr>
              <a:t>PART 4  -  GITHUB ACTIONS</a:t>
            </a:r>
            <a:endParaRPr b="1" sz="900">
              <a:solidFill>
                <a:srgbClr val="BC8C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06" name="Google Shape;506;p29"/>
          <p:cNvSpPr txBox="1"/>
          <p:nvPr/>
        </p:nvSpPr>
        <p:spPr>
          <a:xfrm>
            <a:off x="254000" y="177800"/>
            <a:ext cx="86361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GitHub Secrets Configuration</a:t>
            </a:r>
            <a:endParaRPr b="1" sz="22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507" name="Google Shape;507;p29"/>
          <p:cNvCxnSpPr/>
          <p:nvPr/>
        </p:nvCxnSpPr>
        <p:spPr>
          <a:xfrm>
            <a:off x="254000" y="685800"/>
            <a:ext cx="8636100" cy="0"/>
          </a:xfrm>
          <a:prstGeom prst="straightConnector1">
            <a:avLst/>
          </a:prstGeom>
          <a:noFill/>
          <a:ln cap="flat" cmpd="sng" w="12700">
            <a:solidFill>
              <a:srgbClr val="1F293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8" name="Google Shape;508;p29"/>
          <p:cNvSpPr txBox="1"/>
          <p:nvPr/>
        </p:nvSpPr>
        <p:spPr>
          <a:xfrm>
            <a:off x="254000" y="762000"/>
            <a:ext cx="8636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Settings → Secrets and variables → Actions → New repository secret</a:t>
            </a:r>
            <a:endParaRPr i="1" sz="9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09" name="Google Shape;509;p29"/>
          <p:cNvSpPr/>
          <p:nvPr/>
        </p:nvSpPr>
        <p:spPr>
          <a:xfrm>
            <a:off x="254000" y="1117600"/>
            <a:ext cx="8636100" cy="914400"/>
          </a:xfrm>
          <a:prstGeom prst="rect">
            <a:avLst/>
          </a:prstGeom>
          <a:solidFill>
            <a:srgbClr val="161B22"/>
          </a:solidFill>
          <a:ln cap="flat" cmpd="sng" w="19050">
            <a:solidFill>
              <a:srgbClr val="F851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29"/>
          <p:cNvSpPr/>
          <p:nvPr/>
        </p:nvSpPr>
        <p:spPr>
          <a:xfrm>
            <a:off x="254000" y="1117600"/>
            <a:ext cx="1968600" cy="9144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29"/>
          <p:cNvSpPr txBox="1"/>
          <p:nvPr/>
        </p:nvSpPr>
        <p:spPr>
          <a:xfrm>
            <a:off x="279400" y="1117600"/>
            <a:ext cx="1930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85149"/>
                </a:solidFill>
                <a:latin typeface="Roboto Mono"/>
                <a:ea typeface="Roboto Mono"/>
                <a:cs typeface="Roboto Mono"/>
                <a:sym typeface="Roboto Mono"/>
              </a:rPr>
              <a:t>VM_HOST</a:t>
            </a:r>
            <a:endParaRPr b="1" sz="1300">
              <a:solidFill>
                <a:srgbClr val="F85149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12" name="Google Shape;512;p29"/>
          <p:cNvSpPr txBox="1"/>
          <p:nvPr/>
        </p:nvSpPr>
        <p:spPr>
          <a:xfrm>
            <a:off x="2387600" y="1219200"/>
            <a:ext cx="10161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Value:</a:t>
            </a:r>
            <a:endParaRPr sz="9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13" name="Google Shape;513;p29"/>
          <p:cNvSpPr txBox="1"/>
          <p:nvPr/>
        </p:nvSpPr>
        <p:spPr>
          <a:xfrm>
            <a:off x="2387600" y="1447800"/>
            <a:ext cx="6222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Azure VM Public IP Address</a:t>
            </a:r>
            <a:endParaRPr b="1" sz="110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14" name="Google Shape;514;p29"/>
          <p:cNvSpPr txBox="1"/>
          <p:nvPr/>
        </p:nvSpPr>
        <p:spPr>
          <a:xfrm>
            <a:off x="2387600" y="1727200"/>
            <a:ext cx="62229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How to get it:  Azure Portal → test-vm → Overview</a:t>
            </a:r>
            <a:endParaRPr sz="9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15" name="Google Shape;515;p29"/>
          <p:cNvSpPr/>
          <p:nvPr/>
        </p:nvSpPr>
        <p:spPr>
          <a:xfrm>
            <a:off x="254000" y="2184400"/>
            <a:ext cx="8636100" cy="914400"/>
          </a:xfrm>
          <a:prstGeom prst="rect">
            <a:avLst/>
          </a:prstGeom>
          <a:solidFill>
            <a:srgbClr val="161B22"/>
          </a:solidFill>
          <a:ln cap="flat" cmpd="sng" w="19050">
            <a:solidFill>
              <a:srgbClr val="F0C6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29"/>
          <p:cNvSpPr/>
          <p:nvPr/>
        </p:nvSpPr>
        <p:spPr>
          <a:xfrm>
            <a:off x="254000" y="2184400"/>
            <a:ext cx="1968600" cy="9144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29"/>
          <p:cNvSpPr txBox="1"/>
          <p:nvPr/>
        </p:nvSpPr>
        <p:spPr>
          <a:xfrm>
            <a:off x="279400" y="2184400"/>
            <a:ext cx="1930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0C674"/>
                </a:solidFill>
                <a:latin typeface="Roboto Mono"/>
                <a:ea typeface="Roboto Mono"/>
                <a:cs typeface="Roboto Mono"/>
                <a:sym typeface="Roboto Mono"/>
              </a:rPr>
              <a:t>VM_USERNAME</a:t>
            </a:r>
            <a:endParaRPr b="1" sz="1300">
              <a:solidFill>
                <a:srgbClr val="F0C674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18" name="Google Shape;518;p29"/>
          <p:cNvSpPr txBox="1"/>
          <p:nvPr/>
        </p:nvSpPr>
        <p:spPr>
          <a:xfrm>
            <a:off x="2387600" y="2286000"/>
            <a:ext cx="10161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Value:</a:t>
            </a:r>
            <a:endParaRPr sz="9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19" name="Google Shape;519;p29"/>
          <p:cNvSpPr txBox="1"/>
          <p:nvPr/>
        </p:nvSpPr>
        <p:spPr>
          <a:xfrm>
            <a:off x="2387600" y="2514600"/>
            <a:ext cx="6222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mateen</a:t>
            </a:r>
            <a:endParaRPr b="1" sz="110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20" name="Google Shape;520;p29"/>
          <p:cNvSpPr txBox="1"/>
          <p:nvPr/>
        </p:nvSpPr>
        <p:spPr>
          <a:xfrm>
            <a:off x="2387600" y="2794000"/>
            <a:ext cx="62229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How to get it:  Fixed value - type as shown</a:t>
            </a:r>
            <a:endParaRPr sz="9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21" name="Google Shape;521;p29"/>
          <p:cNvSpPr/>
          <p:nvPr/>
        </p:nvSpPr>
        <p:spPr>
          <a:xfrm>
            <a:off x="254000" y="3251200"/>
            <a:ext cx="8636100" cy="914400"/>
          </a:xfrm>
          <a:prstGeom prst="rect">
            <a:avLst/>
          </a:prstGeom>
          <a:solidFill>
            <a:srgbClr val="161B22"/>
          </a:solidFill>
          <a:ln cap="flat" cmpd="sng" w="1905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29"/>
          <p:cNvSpPr/>
          <p:nvPr/>
        </p:nvSpPr>
        <p:spPr>
          <a:xfrm>
            <a:off x="254000" y="3251200"/>
            <a:ext cx="1968600" cy="9144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29"/>
          <p:cNvSpPr txBox="1"/>
          <p:nvPr/>
        </p:nvSpPr>
        <p:spPr>
          <a:xfrm>
            <a:off x="279400" y="3251200"/>
            <a:ext cx="1930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3FB950"/>
                </a:solidFill>
                <a:latin typeface="Roboto Mono"/>
                <a:ea typeface="Roboto Mono"/>
                <a:cs typeface="Roboto Mono"/>
                <a:sym typeface="Roboto Mono"/>
              </a:rPr>
              <a:t>VM_SSH_KEY</a:t>
            </a:r>
            <a:endParaRPr b="1" sz="1300">
              <a:solidFill>
                <a:srgbClr val="3FB95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24" name="Google Shape;524;p29"/>
          <p:cNvSpPr txBox="1"/>
          <p:nvPr/>
        </p:nvSpPr>
        <p:spPr>
          <a:xfrm>
            <a:off x="2387600" y="3352800"/>
            <a:ext cx="10161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Value:</a:t>
            </a:r>
            <a:endParaRPr sz="9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25" name="Google Shape;525;p29"/>
          <p:cNvSpPr txBox="1"/>
          <p:nvPr/>
        </p:nvSpPr>
        <p:spPr>
          <a:xfrm>
            <a:off x="2387600" y="3581400"/>
            <a:ext cx="6222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Base64 encoded private SSH key</a:t>
            </a:r>
            <a:endParaRPr b="1" sz="110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26" name="Google Shape;526;p29"/>
          <p:cNvSpPr txBox="1"/>
          <p:nvPr/>
        </p:nvSpPr>
        <p:spPr>
          <a:xfrm>
            <a:off x="2387600" y="3860800"/>
            <a:ext cx="62229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How to get it:  Run: base64 -w 0 ~/.ssh/id_rsa</a:t>
            </a:r>
            <a:endParaRPr sz="9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27" name="Google Shape;527;p29"/>
          <p:cNvSpPr txBox="1"/>
          <p:nvPr/>
        </p:nvSpPr>
        <p:spPr>
          <a:xfrm>
            <a:off x="8382000" y="4864100"/>
            <a:ext cx="6351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17 / 22</a:t>
            </a:r>
            <a:endParaRPr sz="8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3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39D3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30"/>
          <p:cNvSpPr txBox="1"/>
          <p:nvPr/>
        </p:nvSpPr>
        <p:spPr>
          <a:xfrm>
            <a:off x="254000" y="127000"/>
            <a:ext cx="5079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39D3C3"/>
                </a:solidFill>
                <a:latin typeface="Roboto Mono"/>
                <a:ea typeface="Roboto Mono"/>
                <a:cs typeface="Roboto Mono"/>
                <a:sym typeface="Roboto Mono"/>
              </a:rPr>
              <a:t>DESIGN PRINCIPLE</a:t>
            </a:r>
            <a:endParaRPr b="1" sz="900">
              <a:solidFill>
                <a:srgbClr val="39D3C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34" name="Google Shape;534;p30"/>
          <p:cNvSpPr txBox="1"/>
          <p:nvPr/>
        </p:nvSpPr>
        <p:spPr>
          <a:xfrm>
            <a:off x="254000" y="177800"/>
            <a:ext cx="86361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Single Source of Truth</a:t>
            </a:r>
            <a:endParaRPr b="1" sz="24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535" name="Google Shape;535;p30"/>
          <p:cNvCxnSpPr/>
          <p:nvPr/>
        </p:nvCxnSpPr>
        <p:spPr>
          <a:xfrm>
            <a:off x="254000" y="685800"/>
            <a:ext cx="8636100" cy="0"/>
          </a:xfrm>
          <a:prstGeom prst="straightConnector1">
            <a:avLst/>
          </a:prstGeom>
          <a:noFill/>
          <a:ln cap="flat" cmpd="sng" w="12700">
            <a:solidFill>
              <a:srgbClr val="1F293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6" name="Google Shape;536;p30"/>
          <p:cNvSpPr txBox="1"/>
          <p:nvPr/>
        </p:nvSpPr>
        <p:spPr>
          <a:xfrm>
            <a:off x="254000" y="762000"/>
            <a:ext cx="86361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39D3C3"/>
                </a:solidFill>
                <a:latin typeface="Roboto Mono"/>
                <a:ea typeface="Roboto Mono"/>
                <a:cs typeface="Roboto Mono"/>
                <a:sym typeface="Roboto Mono"/>
              </a:rPr>
              <a:t>ansible/deploy.yml owns all deployment logic - used by both manual runs and CI/CD pipeline</a:t>
            </a:r>
            <a:endParaRPr b="1" sz="1100">
              <a:solidFill>
                <a:srgbClr val="39D3C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37" name="Google Shape;537;p30"/>
          <p:cNvSpPr/>
          <p:nvPr/>
        </p:nvSpPr>
        <p:spPr>
          <a:xfrm>
            <a:off x="254000" y="1143000"/>
            <a:ext cx="4038600" cy="1905000"/>
          </a:xfrm>
          <a:prstGeom prst="rect">
            <a:avLst/>
          </a:prstGeom>
          <a:solidFill>
            <a:srgbClr val="161B22"/>
          </a:solidFill>
          <a:ln cap="flat" cmpd="sng" w="19050">
            <a:solidFill>
              <a:srgbClr val="F851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30"/>
          <p:cNvSpPr txBox="1"/>
          <p:nvPr/>
        </p:nvSpPr>
        <p:spPr>
          <a:xfrm>
            <a:off x="381000" y="1244600"/>
            <a:ext cx="3683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85149"/>
                </a:solidFill>
                <a:latin typeface="Roboto Mono"/>
                <a:ea typeface="Roboto Mono"/>
                <a:cs typeface="Roboto Mono"/>
                <a:sym typeface="Roboto Mono"/>
              </a:rPr>
              <a:t>Before - Logic Duplicated</a:t>
            </a:r>
            <a:endParaRPr b="1" sz="1000">
              <a:solidFill>
                <a:srgbClr val="F85149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39" name="Google Shape;539;p30"/>
          <p:cNvSpPr txBox="1"/>
          <p:nvPr/>
        </p:nvSpPr>
        <p:spPr>
          <a:xfrm>
            <a:off x="381000" y="1498600"/>
            <a:ext cx="3746400" cy="14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GitHub Actions:</a:t>
            </a:r>
            <a:endParaRPr sz="900">
              <a:solidFill>
                <a:srgbClr val="E6EDF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  docker stop webapp</a:t>
            </a:r>
            <a:endParaRPr sz="900">
              <a:solidFill>
                <a:srgbClr val="E6EDF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  docker rm webapp</a:t>
            </a:r>
            <a:endParaRPr sz="900">
              <a:solidFill>
                <a:srgbClr val="E6EDF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  docker run webapp</a:t>
            </a:r>
            <a:endParaRPr sz="900">
              <a:solidFill>
                <a:srgbClr val="E6EDF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E6EDF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Ansible deploy.yml:</a:t>
            </a:r>
            <a:endParaRPr sz="900">
              <a:solidFill>
                <a:srgbClr val="E6EDF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  docker stop webapp</a:t>
            </a:r>
            <a:endParaRPr sz="900">
              <a:solidFill>
                <a:srgbClr val="E6EDF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  docker rm webapp</a:t>
            </a:r>
            <a:endParaRPr sz="900">
              <a:solidFill>
                <a:srgbClr val="E6EDF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  docker run webapp</a:t>
            </a:r>
            <a:endParaRPr sz="900">
              <a:solidFill>
                <a:srgbClr val="E6EDF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40" name="Google Shape;540;p30"/>
          <p:cNvSpPr txBox="1"/>
          <p:nvPr/>
        </p:nvSpPr>
        <p:spPr>
          <a:xfrm>
            <a:off x="4419600" y="1879600"/>
            <a:ext cx="3810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39D3C3"/>
                </a:solidFill>
                <a:latin typeface="Roboto Mono"/>
                <a:ea typeface="Roboto Mono"/>
                <a:cs typeface="Roboto Mono"/>
                <a:sym typeface="Roboto Mono"/>
              </a:rPr>
              <a:t>→</a:t>
            </a:r>
            <a:endParaRPr sz="2000">
              <a:solidFill>
                <a:srgbClr val="39D3C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41" name="Google Shape;541;p30"/>
          <p:cNvSpPr/>
          <p:nvPr/>
        </p:nvSpPr>
        <p:spPr>
          <a:xfrm>
            <a:off x="4927600" y="1143000"/>
            <a:ext cx="3962400" cy="1905000"/>
          </a:xfrm>
          <a:prstGeom prst="rect">
            <a:avLst/>
          </a:prstGeom>
          <a:solidFill>
            <a:srgbClr val="161B22"/>
          </a:solidFill>
          <a:ln cap="flat" cmpd="sng" w="1905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30"/>
          <p:cNvSpPr txBox="1"/>
          <p:nvPr/>
        </p:nvSpPr>
        <p:spPr>
          <a:xfrm>
            <a:off x="5080000" y="1244600"/>
            <a:ext cx="3555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3FB950"/>
                </a:solidFill>
                <a:latin typeface="Roboto Mono"/>
                <a:ea typeface="Roboto Mono"/>
                <a:cs typeface="Roboto Mono"/>
                <a:sym typeface="Roboto Mono"/>
              </a:rPr>
              <a:t>After - No Duplication</a:t>
            </a:r>
            <a:endParaRPr b="1" sz="1000">
              <a:solidFill>
                <a:srgbClr val="3FB95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43" name="Google Shape;543;p30"/>
          <p:cNvSpPr txBox="1"/>
          <p:nvPr/>
        </p:nvSpPr>
        <p:spPr>
          <a:xfrm>
            <a:off x="5080000" y="1498600"/>
            <a:ext cx="3555900" cy="14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GitHub Actions:</a:t>
            </a:r>
            <a:endParaRPr sz="900">
              <a:solidFill>
                <a:srgbClr val="E6EDF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  ansible-playbook deploy.yml</a:t>
            </a:r>
            <a:endParaRPr sz="900">
              <a:solidFill>
                <a:srgbClr val="E6EDF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E6EDF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Ansible deploy.yml:</a:t>
            </a:r>
            <a:endParaRPr sz="900">
              <a:solidFill>
                <a:srgbClr val="E6EDF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  docker stop webapp</a:t>
            </a:r>
            <a:endParaRPr sz="900">
              <a:solidFill>
                <a:srgbClr val="E6EDF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  docker rm webapp</a:t>
            </a:r>
            <a:endParaRPr sz="900">
              <a:solidFill>
                <a:srgbClr val="E6EDF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  docker run webapp</a:t>
            </a:r>
            <a:endParaRPr sz="900">
              <a:solidFill>
                <a:srgbClr val="E6EDF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44" name="Google Shape;544;p30"/>
          <p:cNvSpPr/>
          <p:nvPr/>
        </p:nvSpPr>
        <p:spPr>
          <a:xfrm>
            <a:off x="254000" y="3200400"/>
            <a:ext cx="8636100" cy="635100"/>
          </a:xfrm>
          <a:prstGeom prst="rect">
            <a:avLst/>
          </a:prstGeom>
          <a:solidFill>
            <a:srgbClr val="161B22"/>
          </a:solidFill>
          <a:ln cap="flat" cmpd="sng" w="19050">
            <a:solidFill>
              <a:srgbClr val="39D3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30"/>
          <p:cNvSpPr txBox="1"/>
          <p:nvPr/>
        </p:nvSpPr>
        <p:spPr>
          <a:xfrm>
            <a:off x="431800" y="3276600"/>
            <a:ext cx="82551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If deployment logic changes - update deploy.yml once.</a:t>
            </a:r>
            <a:endParaRPr sz="1000">
              <a:solidFill>
                <a:srgbClr val="E6EDF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Both manual deploy and CI/CD pipeline are fixed automatically.</a:t>
            </a:r>
            <a:endParaRPr sz="1000">
              <a:solidFill>
                <a:srgbClr val="E6EDF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46" name="Google Shape;546;p30"/>
          <p:cNvSpPr txBox="1"/>
          <p:nvPr/>
        </p:nvSpPr>
        <p:spPr>
          <a:xfrm>
            <a:off x="8382000" y="4864100"/>
            <a:ext cx="6351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18 / 22</a:t>
            </a:r>
            <a:endParaRPr sz="8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31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39D3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31"/>
          <p:cNvSpPr txBox="1"/>
          <p:nvPr/>
        </p:nvSpPr>
        <p:spPr>
          <a:xfrm>
            <a:off x="254000" y="127000"/>
            <a:ext cx="5079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39D3C3"/>
                </a:solidFill>
                <a:latin typeface="Roboto Mono"/>
                <a:ea typeface="Roboto Mono"/>
                <a:cs typeface="Roboto Mono"/>
                <a:sym typeface="Roboto Mono"/>
              </a:rPr>
              <a:t>PIPELINE DESIGN</a:t>
            </a:r>
            <a:endParaRPr b="1" sz="900">
              <a:solidFill>
                <a:srgbClr val="39D3C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53" name="Google Shape;553;p31"/>
          <p:cNvSpPr txBox="1"/>
          <p:nvPr/>
        </p:nvSpPr>
        <p:spPr>
          <a:xfrm>
            <a:off x="1800900" y="177800"/>
            <a:ext cx="55422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Architecture Diagram</a:t>
            </a:r>
            <a:endParaRPr b="1" sz="24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554" name="Google Shape;554;p31"/>
          <p:cNvCxnSpPr/>
          <p:nvPr/>
        </p:nvCxnSpPr>
        <p:spPr>
          <a:xfrm>
            <a:off x="254000" y="685800"/>
            <a:ext cx="8636100" cy="0"/>
          </a:xfrm>
          <a:prstGeom prst="straightConnector1">
            <a:avLst/>
          </a:prstGeom>
          <a:noFill/>
          <a:ln cap="flat" cmpd="sng" w="12700">
            <a:solidFill>
              <a:srgbClr val="1F293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5" name="Google Shape;555;p31"/>
          <p:cNvSpPr txBox="1"/>
          <p:nvPr/>
        </p:nvSpPr>
        <p:spPr>
          <a:xfrm>
            <a:off x="8382000" y="4864100"/>
            <a:ext cx="6351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19 / 22</a:t>
            </a:r>
            <a:endParaRPr sz="8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556" name="Google Shape;556;p31" title="architecture.drawio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284" y="762100"/>
            <a:ext cx="8077204" cy="4227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32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32"/>
          <p:cNvSpPr txBox="1"/>
          <p:nvPr/>
        </p:nvSpPr>
        <p:spPr>
          <a:xfrm>
            <a:off x="254000" y="127000"/>
            <a:ext cx="5079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58A6FF"/>
                </a:solidFill>
                <a:latin typeface="Roboto Mono"/>
                <a:ea typeface="Roboto Mono"/>
                <a:cs typeface="Roboto Mono"/>
                <a:sym typeface="Roboto Mono"/>
              </a:rPr>
              <a:t>END TO END FLOW</a:t>
            </a:r>
            <a:endParaRPr b="1" sz="900">
              <a:solidFill>
                <a:srgbClr val="58A6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63" name="Google Shape;563;p32"/>
          <p:cNvSpPr txBox="1"/>
          <p:nvPr/>
        </p:nvSpPr>
        <p:spPr>
          <a:xfrm>
            <a:off x="254000" y="177800"/>
            <a:ext cx="86361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Complete Automated Flow</a:t>
            </a:r>
            <a:endParaRPr b="1" sz="22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564" name="Google Shape;564;p32"/>
          <p:cNvCxnSpPr/>
          <p:nvPr/>
        </p:nvCxnSpPr>
        <p:spPr>
          <a:xfrm>
            <a:off x="254000" y="685800"/>
            <a:ext cx="8636100" cy="0"/>
          </a:xfrm>
          <a:prstGeom prst="straightConnector1">
            <a:avLst/>
          </a:prstGeom>
          <a:noFill/>
          <a:ln cap="flat" cmpd="sng" w="12700">
            <a:solidFill>
              <a:srgbClr val="1F293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5" name="Google Shape;565;p32"/>
          <p:cNvSpPr/>
          <p:nvPr/>
        </p:nvSpPr>
        <p:spPr>
          <a:xfrm>
            <a:off x="254000" y="787400"/>
            <a:ext cx="63600" cy="4953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32"/>
          <p:cNvSpPr/>
          <p:nvPr/>
        </p:nvSpPr>
        <p:spPr>
          <a:xfrm>
            <a:off x="317500" y="787400"/>
            <a:ext cx="4254600" cy="4953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32"/>
          <p:cNvSpPr txBox="1"/>
          <p:nvPr/>
        </p:nvSpPr>
        <p:spPr>
          <a:xfrm>
            <a:off x="406400" y="825500"/>
            <a:ext cx="40131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58A6FF"/>
                </a:solidFill>
                <a:latin typeface="Roboto Mono"/>
                <a:ea typeface="Roboto Mono"/>
                <a:cs typeface="Roboto Mono"/>
                <a:sym typeface="Roboto Mono"/>
              </a:rPr>
              <a:t>git push</a:t>
            </a:r>
            <a:endParaRPr b="1" sz="900">
              <a:solidFill>
                <a:srgbClr val="58A6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68" name="Google Shape;568;p32"/>
          <p:cNvSpPr txBox="1"/>
          <p:nvPr/>
        </p:nvSpPr>
        <p:spPr>
          <a:xfrm>
            <a:off x="406400" y="1054100"/>
            <a:ext cx="40131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Developer pushes code change to main branch on GitHub</a:t>
            </a:r>
            <a:endParaRPr sz="8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69" name="Google Shape;569;p32"/>
          <p:cNvSpPr/>
          <p:nvPr/>
        </p:nvSpPr>
        <p:spPr>
          <a:xfrm>
            <a:off x="254000" y="1384300"/>
            <a:ext cx="63600" cy="495300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32"/>
          <p:cNvSpPr/>
          <p:nvPr/>
        </p:nvSpPr>
        <p:spPr>
          <a:xfrm>
            <a:off x="317500" y="1384300"/>
            <a:ext cx="4254600" cy="4953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32"/>
          <p:cNvSpPr txBox="1"/>
          <p:nvPr/>
        </p:nvSpPr>
        <p:spPr>
          <a:xfrm>
            <a:off x="406400" y="1422400"/>
            <a:ext cx="40131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BC8CFF"/>
                </a:solidFill>
                <a:latin typeface="Roboto Mono"/>
                <a:ea typeface="Roboto Mono"/>
                <a:cs typeface="Roboto Mono"/>
                <a:sym typeface="Roboto Mono"/>
              </a:rPr>
              <a:t>GitHub detects push</a:t>
            </a:r>
            <a:endParaRPr b="1" sz="900">
              <a:solidFill>
                <a:srgbClr val="BC8C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72" name="Google Shape;572;p32"/>
          <p:cNvSpPr txBox="1"/>
          <p:nvPr/>
        </p:nvSpPr>
        <p:spPr>
          <a:xfrm>
            <a:off x="406400" y="1651000"/>
            <a:ext cx="40131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Actions runner starts - fresh Ubuntu VM provisioned by GitHub</a:t>
            </a:r>
            <a:endParaRPr sz="8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73" name="Google Shape;573;p32"/>
          <p:cNvSpPr/>
          <p:nvPr/>
        </p:nvSpPr>
        <p:spPr>
          <a:xfrm>
            <a:off x="254000" y="1981200"/>
            <a:ext cx="63600" cy="495300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32"/>
          <p:cNvSpPr/>
          <p:nvPr/>
        </p:nvSpPr>
        <p:spPr>
          <a:xfrm>
            <a:off x="317500" y="1981200"/>
            <a:ext cx="4254600" cy="4953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32"/>
          <p:cNvSpPr txBox="1"/>
          <p:nvPr/>
        </p:nvSpPr>
        <p:spPr>
          <a:xfrm>
            <a:off x="406400" y="2019300"/>
            <a:ext cx="40131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BC8CFF"/>
                </a:solidFill>
                <a:latin typeface="Roboto Mono"/>
                <a:ea typeface="Roboto Mono"/>
                <a:cs typeface="Roboto Mono"/>
                <a:sym typeface="Roboto Mono"/>
              </a:rPr>
              <a:t>Runner setup</a:t>
            </a:r>
            <a:endParaRPr b="1" sz="900">
              <a:solidFill>
                <a:srgbClr val="BC8C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76" name="Google Shape;576;p32"/>
          <p:cNvSpPr txBox="1"/>
          <p:nvPr/>
        </p:nvSpPr>
        <p:spPr>
          <a:xfrm>
            <a:off x="406400" y="2247900"/>
            <a:ext cx="40131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Checkout repo  →  Install Ansible  →  Write SSH key to id_rsa</a:t>
            </a:r>
            <a:endParaRPr sz="8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77" name="Google Shape;577;p32"/>
          <p:cNvSpPr/>
          <p:nvPr/>
        </p:nvSpPr>
        <p:spPr>
          <a:xfrm>
            <a:off x="254000" y="2578100"/>
            <a:ext cx="63600" cy="4953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32"/>
          <p:cNvSpPr/>
          <p:nvPr/>
        </p:nvSpPr>
        <p:spPr>
          <a:xfrm>
            <a:off x="317500" y="2578100"/>
            <a:ext cx="4254600" cy="4953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32"/>
          <p:cNvSpPr txBox="1"/>
          <p:nvPr/>
        </p:nvSpPr>
        <p:spPr>
          <a:xfrm>
            <a:off x="406400" y="2616200"/>
            <a:ext cx="40131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58A6FF"/>
                </a:solidFill>
                <a:latin typeface="Roboto Mono"/>
                <a:ea typeface="Roboto Mono"/>
                <a:cs typeface="Roboto Mono"/>
                <a:sym typeface="Roboto Mono"/>
              </a:rPr>
              <a:t>Ansible connects</a:t>
            </a:r>
            <a:endParaRPr b="1" sz="900">
              <a:solidFill>
                <a:srgbClr val="58A6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80" name="Google Shape;580;p32"/>
          <p:cNvSpPr txBox="1"/>
          <p:nvPr/>
        </p:nvSpPr>
        <p:spPr>
          <a:xfrm>
            <a:off x="406400" y="2844800"/>
            <a:ext cx="40131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SSH into Azure VM using private key from secrets</a:t>
            </a:r>
            <a:endParaRPr sz="8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81" name="Google Shape;581;p32"/>
          <p:cNvSpPr/>
          <p:nvPr/>
        </p:nvSpPr>
        <p:spPr>
          <a:xfrm>
            <a:off x="254000" y="3175000"/>
            <a:ext cx="63600" cy="4953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32"/>
          <p:cNvSpPr/>
          <p:nvPr/>
        </p:nvSpPr>
        <p:spPr>
          <a:xfrm>
            <a:off x="317500" y="3175000"/>
            <a:ext cx="4254600" cy="4953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32"/>
          <p:cNvSpPr txBox="1"/>
          <p:nvPr/>
        </p:nvSpPr>
        <p:spPr>
          <a:xfrm>
            <a:off x="406400" y="3213100"/>
            <a:ext cx="40131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58A6FF"/>
                </a:solidFill>
                <a:latin typeface="Roboto Mono"/>
                <a:ea typeface="Roboto Mono"/>
                <a:cs typeface="Roboto Mono"/>
                <a:sym typeface="Roboto Mono"/>
              </a:rPr>
              <a:t>Files copied to VM</a:t>
            </a:r>
            <a:endParaRPr b="1" sz="900">
              <a:solidFill>
                <a:srgbClr val="58A6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84" name="Google Shape;584;p32"/>
          <p:cNvSpPr txBox="1"/>
          <p:nvPr/>
        </p:nvSpPr>
        <p:spPr>
          <a:xfrm>
            <a:off x="406400" y="3441700"/>
            <a:ext cx="40131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app/ folder transferred over SSH into /opt/app on the VM</a:t>
            </a:r>
            <a:endParaRPr sz="8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85" name="Google Shape;585;p32"/>
          <p:cNvSpPr/>
          <p:nvPr/>
        </p:nvSpPr>
        <p:spPr>
          <a:xfrm>
            <a:off x="4673600" y="787400"/>
            <a:ext cx="63600" cy="49530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32"/>
          <p:cNvSpPr/>
          <p:nvPr/>
        </p:nvSpPr>
        <p:spPr>
          <a:xfrm>
            <a:off x="4737100" y="787400"/>
            <a:ext cx="4254600" cy="4953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32"/>
          <p:cNvSpPr txBox="1"/>
          <p:nvPr/>
        </p:nvSpPr>
        <p:spPr>
          <a:xfrm>
            <a:off x="4826000" y="825500"/>
            <a:ext cx="40131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85149"/>
                </a:solidFill>
                <a:latin typeface="Roboto Mono"/>
                <a:ea typeface="Roboto Mono"/>
                <a:cs typeface="Roboto Mono"/>
                <a:sym typeface="Roboto Mono"/>
              </a:rPr>
              <a:t>Old container removed</a:t>
            </a:r>
            <a:endParaRPr b="1" sz="900">
              <a:solidFill>
                <a:srgbClr val="F85149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88" name="Google Shape;588;p32"/>
          <p:cNvSpPr txBox="1"/>
          <p:nvPr/>
        </p:nvSpPr>
        <p:spPr>
          <a:xfrm>
            <a:off x="4826000" y="1054100"/>
            <a:ext cx="40131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docker-compose down - stops and removes previous container</a:t>
            </a:r>
            <a:endParaRPr sz="8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89" name="Google Shape;589;p32"/>
          <p:cNvSpPr/>
          <p:nvPr/>
        </p:nvSpPr>
        <p:spPr>
          <a:xfrm>
            <a:off x="4673600" y="1384300"/>
            <a:ext cx="63600" cy="4953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32"/>
          <p:cNvSpPr/>
          <p:nvPr/>
        </p:nvSpPr>
        <p:spPr>
          <a:xfrm>
            <a:off x="4737100" y="1384300"/>
            <a:ext cx="4254600" cy="4953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32"/>
          <p:cNvSpPr txBox="1"/>
          <p:nvPr/>
        </p:nvSpPr>
        <p:spPr>
          <a:xfrm>
            <a:off x="4826000" y="1422400"/>
            <a:ext cx="40131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3FB950"/>
                </a:solidFill>
                <a:latin typeface="Roboto Mono"/>
                <a:ea typeface="Roboto Mono"/>
                <a:cs typeface="Roboto Mono"/>
                <a:sym typeface="Roboto Mono"/>
              </a:rPr>
              <a:t>docker-compose build</a:t>
            </a:r>
            <a:endParaRPr b="1" sz="900">
              <a:solidFill>
                <a:srgbClr val="3FB95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92" name="Google Shape;592;p32"/>
          <p:cNvSpPr txBox="1"/>
          <p:nvPr/>
        </p:nvSpPr>
        <p:spPr>
          <a:xfrm>
            <a:off x="4826000" y="1651000"/>
            <a:ext cx="40131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Fresh image built from Dockerfile - build: always no cache used</a:t>
            </a:r>
            <a:endParaRPr sz="8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93" name="Google Shape;593;p32"/>
          <p:cNvSpPr/>
          <p:nvPr/>
        </p:nvSpPr>
        <p:spPr>
          <a:xfrm>
            <a:off x="4673600" y="1981200"/>
            <a:ext cx="63600" cy="4953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32"/>
          <p:cNvSpPr/>
          <p:nvPr/>
        </p:nvSpPr>
        <p:spPr>
          <a:xfrm>
            <a:off x="4737100" y="1981200"/>
            <a:ext cx="4254600" cy="4953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32"/>
          <p:cNvSpPr txBox="1"/>
          <p:nvPr/>
        </p:nvSpPr>
        <p:spPr>
          <a:xfrm>
            <a:off x="4826000" y="2019300"/>
            <a:ext cx="40131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3FB950"/>
                </a:solidFill>
                <a:latin typeface="Roboto Mono"/>
                <a:ea typeface="Roboto Mono"/>
                <a:cs typeface="Roboto Mono"/>
                <a:sym typeface="Roboto Mono"/>
              </a:rPr>
              <a:t>docker-compose up</a:t>
            </a:r>
            <a:endParaRPr b="1" sz="900">
              <a:solidFill>
                <a:srgbClr val="3FB95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96" name="Google Shape;596;p32"/>
          <p:cNvSpPr txBox="1"/>
          <p:nvPr/>
        </p:nvSpPr>
        <p:spPr>
          <a:xfrm>
            <a:off x="4826000" y="2247900"/>
            <a:ext cx="40131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Container started - port 8080:80 mapped - restart: always set</a:t>
            </a:r>
            <a:endParaRPr sz="8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97" name="Google Shape;597;p32"/>
          <p:cNvSpPr/>
          <p:nvPr/>
        </p:nvSpPr>
        <p:spPr>
          <a:xfrm>
            <a:off x="4673600" y="2578100"/>
            <a:ext cx="63600" cy="495300"/>
          </a:xfrm>
          <a:prstGeom prst="rect">
            <a:avLst/>
          </a:prstGeom>
          <a:solidFill>
            <a:srgbClr val="39D3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32"/>
          <p:cNvSpPr/>
          <p:nvPr/>
        </p:nvSpPr>
        <p:spPr>
          <a:xfrm>
            <a:off x="4737100" y="2578100"/>
            <a:ext cx="4254600" cy="4953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32"/>
          <p:cNvSpPr txBox="1"/>
          <p:nvPr/>
        </p:nvSpPr>
        <p:spPr>
          <a:xfrm>
            <a:off x="4826000" y="2616200"/>
            <a:ext cx="40131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39D3C3"/>
                </a:solidFill>
                <a:latin typeface="Roboto Mono"/>
                <a:ea typeface="Roboto Mono"/>
                <a:cs typeface="Roboto Mono"/>
                <a:sym typeface="Roboto Mono"/>
              </a:rPr>
              <a:t>HTTP 200 verified</a:t>
            </a:r>
            <a:endParaRPr b="1" sz="900">
              <a:solidFill>
                <a:srgbClr val="39D3C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00" name="Google Shape;600;p32"/>
          <p:cNvSpPr txBox="1"/>
          <p:nvPr/>
        </p:nvSpPr>
        <p:spPr>
          <a:xfrm>
            <a:off x="4826000" y="2844800"/>
            <a:ext cx="40131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Ansible confirms app responds on localhost:8080</a:t>
            </a:r>
            <a:endParaRPr sz="8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01" name="Google Shape;601;p32"/>
          <p:cNvSpPr/>
          <p:nvPr/>
        </p:nvSpPr>
        <p:spPr>
          <a:xfrm>
            <a:off x="4673600" y="3175000"/>
            <a:ext cx="63600" cy="4953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32"/>
          <p:cNvSpPr/>
          <p:nvPr/>
        </p:nvSpPr>
        <p:spPr>
          <a:xfrm>
            <a:off x="4737100" y="3175000"/>
            <a:ext cx="4254600" cy="4953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32"/>
          <p:cNvSpPr txBox="1"/>
          <p:nvPr/>
        </p:nvSpPr>
        <p:spPr>
          <a:xfrm>
            <a:off x="4826000" y="3213100"/>
            <a:ext cx="40131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3FB950"/>
                </a:solidFill>
                <a:latin typeface="Roboto Mono"/>
                <a:ea typeface="Roboto Mono"/>
                <a:cs typeface="Roboto Mono"/>
                <a:sym typeface="Roboto Mono"/>
              </a:rPr>
              <a:t>Live in &lt; 2 minutes ✓</a:t>
            </a:r>
            <a:endParaRPr b="1" sz="900">
              <a:solidFill>
                <a:srgbClr val="3FB95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04" name="Google Shape;604;p32"/>
          <p:cNvSpPr txBox="1"/>
          <p:nvPr/>
        </p:nvSpPr>
        <p:spPr>
          <a:xfrm>
            <a:off x="4826000" y="3441700"/>
            <a:ext cx="40131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Browser hits http://VM_IP:8080 and sees updated application</a:t>
            </a:r>
            <a:endParaRPr sz="8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05" name="Google Shape;605;p32"/>
          <p:cNvSpPr txBox="1"/>
          <p:nvPr/>
        </p:nvSpPr>
        <p:spPr>
          <a:xfrm>
            <a:off x="8382000" y="4864100"/>
            <a:ext cx="6351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20 / 22</a:t>
            </a:r>
            <a:endParaRPr sz="8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33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39D3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33"/>
          <p:cNvSpPr txBox="1"/>
          <p:nvPr/>
        </p:nvSpPr>
        <p:spPr>
          <a:xfrm>
            <a:off x="254000" y="127000"/>
            <a:ext cx="5079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39D3C3"/>
                </a:solidFill>
                <a:latin typeface="Roboto Mono"/>
                <a:ea typeface="Roboto Mono"/>
                <a:cs typeface="Roboto Mono"/>
                <a:sym typeface="Roboto Mono"/>
              </a:rPr>
              <a:t>VERIFICATION</a:t>
            </a:r>
            <a:endParaRPr b="1" sz="900">
              <a:solidFill>
                <a:srgbClr val="39D3C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12" name="Google Shape;612;p33"/>
          <p:cNvSpPr txBox="1"/>
          <p:nvPr/>
        </p:nvSpPr>
        <p:spPr>
          <a:xfrm>
            <a:off x="254000" y="177800"/>
            <a:ext cx="86361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Verification Commands</a:t>
            </a:r>
            <a:endParaRPr b="1" sz="22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613" name="Google Shape;613;p33"/>
          <p:cNvCxnSpPr/>
          <p:nvPr/>
        </p:nvCxnSpPr>
        <p:spPr>
          <a:xfrm>
            <a:off x="254000" y="685800"/>
            <a:ext cx="8636100" cy="0"/>
          </a:xfrm>
          <a:prstGeom prst="straightConnector1">
            <a:avLst/>
          </a:prstGeom>
          <a:noFill/>
          <a:ln cap="flat" cmpd="sng" w="12700">
            <a:solidFill>
              <a:srgbClr val="1F293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4" name="Google Shape;614;p33"/>
          <p:cNvSpPr/>
          <p:nvPr/>
        </p:nvSpPr>
        <p:spPr>
          <a:xfrm>
            <a:off x="254000" y="787400"/>
            <a:ext cx="8636100" cy="381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33"/>
          <p:cNvSpPr/>
          <p:nvPr/>
        </p:nvSpPr>
        <p:spPr>
          <a:xfrm>
            <a:off x="254000" y="787400"/>
            <a:ext cx="3759300" cy="381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33"/>
          <p:cNvSpPr txBox="1"/>
          <p:nvPr/>
        </p:nvSpPr>
        <p:spPr>
          <a:xfrm>
            <a:off x="330200" y="787400"/>
            <a:ext cx="3606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58A6FF"/>
                </a:solidFill>
                <a:latin typeface="Roboto Mono"/>
                <a:ea typeface="Roboto Mono"/>
                <a:cs typeface="Roboto Mono"/>
                <a:sym typeface="Roboto Mono"/>
              </a:rPr>
              <a:t>$ docker --version</a:t>
            </a:r>
            <a:endParaRPr sz="800">
              <a:solidFill>
                <a:srgbClr val="58A6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17" name="Google Shape;617;p33"/>
          <p:cNvSpPr txBox="1"/>
          <p:nvPr/>
        </p:nvSpPr>
        <p:spPr>
          <a:xfrm>
            <a:off x="4089400" y="787400"/>
            <a:ext cx="403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→  Docker version 24.2.0</a:t>
            </a:r>
            <a:endParaRPr sz="800">
              <a:solidFill>
                <a:srgbClr val="E6EDF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18" name="Google Shape;618;p33"/>
          <p:cNvSpPr/>
          <p:nvPr/>
        </p:nvSpPr>
        <p:spPr>
          <a:xfrm>
            <a:off x="8153400" y="825500"/>
            <a:ext cx="711300" cy="279300"/>
          </a:xfrm>
          <a:prstGeom prst="rect">
            <a:avLst/>
          </a:prstGeom>
          <a:solidFill>
            <a:srgbClr val="161B22"/>
          </a:solidFill>
          <a:ln cap="flat" cmpd="sng" w="1905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33"/>
          <p:cNvSpPr txBox="1"/>
          <p:nvPr/>
        </p:nvSpPr>
        <p:spPr>
          <a:xfrm>
            <a:off x="8153400" y="825500"/>
            <a:ext cx="7113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58A6FF"/>
                </a:solidFill>
                <a:latin typeface="Roboto Mono"/>
                <a:ea typeface="Roboto Mono"/>
                <a:cs typeface="Roboto Mono"/>
                <a:sym typeface="Roboto Mono"/>
              </a:rPr>
              <a:t>Part 2</a:t>
            </a:r>
            <a:endParaRPr b="1" sz="700">
              <a:solidFill>
                <a:srgbClr val="58A6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20" name="Google Shape;620;p33"/>
          <p:cNvSpPr/>
          <p:nvPr/>
        </p:nvSpPr>
        <p:spPr>
          <a:xfrm>
            <a:off x="254000" y="1270000"/>
            <a:ext cx="8636100" cy="381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33"/>
          <p:cNvSpPr/>
          <p:nvPr/>
        </p:nvSpPr>
        <p:spPr>
          <a:xfrm>
            <a:off x="254000" y="1270000"/>
            <a:ext cx="3759300" cy="381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33"/>
          <p:cNvSpPr txBox="1"/>
          <p:nvPr/>
        </p:nvSpPr>
        <p:spPr>
          <a:xfrm>
            <a:off x="330200" y="1270000"/>
            <a:ext cx="3606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58A6FF"/>
                </a:solidFill>
                <a:latin typeface="Roboto Mono"/>
                <a:ea typeface="Roboto Mono"/>
                <a:cs typeface="Roboto Mono"/>
                <a:sym typeface="Roboto Mono"/>
              </a:rPr>
              <a:t>$ sudo systemctl status docker</a:t>
            </a:r>
            <a:endParaRPr sz="800">
              <a:solidFill>
                <a:srgbClr val="58A6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23" name="Google Shape;623;p33"/>
          <p:cNvSpPr txBox="1"/>
          <p:nvPr/>
        </p:nvSpPr>
        <p:spPr>
          <a:xfrm>
            <a:off x="4089400" y="1270000"/>
            <a:ext cx="403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→  active (running)</a:t>
            </a:r>
            <a:endParaRPr sz="800">
              <a:solidFill>
                <a:srgbClr val="E6EDF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24" name="Google Shape;624;p33"/>
          <p:cNvSpPr/>
          <p:nvPr/>
        </p:nvSpPr>
        <p:spPr>
          <a:xfrm>
            <a:off x="8153400" y="1308100"/>
            <a:ext cx="711300" cy="279300"/>
          </a:xfrm>
          <a:prstGeom prst="rect">
            <a:avLst/>
          </a:prstGeom>
          <a:solidFill>
            <a:srgbClr val="161B22"/>
          </a:solidFill>
          <a:ln cap="flat" cmpd="sng" w="1905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33"/>
          <p:cNvSpPr txBox="1"/>
          <p:nvPr/>
        </p:nvSpPr>
        <p:spPr>
          <a:xfrm>
            <a:off x="8153400" y="1308100"/>
            <a:ext cx="7113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58A6FF"/>
                </a:solidFill>
                <a:latin typeface="Roboto Mono"/>
                <a:ea typeface="Roboto Mono"/>
                <a:cs typeface="Roboto Mono"/>
                <a:sym typeface="Roboto Mono"/>
              </a:rPr>
              <a:t>Part 2</a:t>
            </a:r>
            <a:endParaRPr b="1" sz="700">
              <a:solidFill>
                <a:srgbClr val="58A6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26" name="Google Shape;626;p33"/>
          <p:cNvSpPr/>
          <p:nvPr/>
        </p:nvSpPr>
        <p:spPr>
          <a:xfrm>
            <a:off x="254000" y="1752600"/>
            <a:ext cx="8636100" cy="381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33"/>
          <p:cNvSpPr/>
          <p:nvPr/>
        </p:nvSpPr>
        <p:spPr>
          <a:xfrm>
            <a:off x="254000" y="1752600"/>
            <a:ext cx="3759300" cy="381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33"/>
          <p:cNvSpPr txBox="1"/>
          <p:nvPr/>
        </p:nvSpPr>
        <p:spPr>
          <a:xfrm>
            <a:off x="330200" y="1752600"/>
            <a:ext cx="3606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58A6FF"/>
                </a:solidFill>
                <a:latin typeface="Roboto Mono"/>
                <a:ea typeface="Roboto Mono"/>
                <a:cs typeface="Roboto Mono"/>
                <a:sym typeface="Roboto Mono"/>
              </a:rPr>
              <a:t>$ sudo systemctl is-enabled docker</a:t>
            </a:r>
            <a:endParaRPr sz="800">
              <a:solidFill>
                <a:srgbClr val="58A6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29" name="Google Shape;629;p33"/>
          <p:cNvSpPr txBox="1"/>
          <p:nvPr/>
        </p:nvSpPr>
        <p:spPr>
          <a:xfrm>
            <a:off x="4089400" y="1752600"/>
            <a:ext cx="403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→  enabled</a:t>
            </a:r>
            <a:endParaRPr sz="800">
              <a:solidFill>
                <a:srgbClr val="E6EDF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30" name="Google Shape;630;p33"/>
          <p:cNvSpPr/>
          <p:nvPr/>
        </p:nvSpPr>
        <p:spPr>
          <a:xfrm>
            <a:off x="8153400" y="1790700"/>
            <a:ext cx="711300" cy="279300"/>
          </a:xfrm>
          <a:prstGeom prst="rect">
            <a:avLst/>
          </a:prstGeom>
          <a:solidFill>
            <a:srgbClr val="161B22"/>
          </a:solidFill>
          <a:ln cap="flat" cmpd="sng" w="1905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33"/>
          <p:cNvSpPr txBox="1"/>
          <p:nvPr/>
        </p:nvSpPr>
        <p:spPr>
          <a:xfrm>
            <a:off x="8153400" y="1790700"/>
            <a:ext cx="7113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58A6FF"/>
                </a:solidFill>
                <a:latin typeface="Roboto Mono"/>
                <a:ea typeface="Roboto Mono"/>
                <a:cs typeface="Roboto Mono"/>
                <a:sym typeface="Roboto Mono"/>
              </a:rPr>
              <a:t>Part 2</a:t>
            </a:r>
            <a:endParaRPr b="1" sz="700">
              <a:solidFill>
                <a:srgbClr val="58A6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32" name="Google Shape;632;p33"/>
          <p:cNvSpPr/>
          <p:nvPr/>
        </p:nvSpPr>
        <p:spPr>
          <a:xfrm>
            <a:off x="254000" y="2235200"/>
            <a:ext cx="8636100" cy="381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33"/>
          <p:cNvSpPr/>
          <p:nvPr/>
        </p:nvSpPr>
        <p:spPr>
          <a:xfrm>
            <a:off x="254000" y="2235200"/>
            <a:ext cx="3759300" cy="381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33"/>
          <p:cNvSpPr txBox="1"/>
          <p:nvPr/>
        </p:nvSpPr>
        <p:spPr>
          <a:xfrm>
            <a:off x="330200" y="2235200"/>
            <a:ext cx="3606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58A6FF"/>
                </a:solidFill>
                <a:latin typeface="Roboto Mono"/>
                <a:ea typeface="Roboto Mono"/>
                <a:cs typeface="Roboto Mono"/>
                <a:sym typeface="Roboto Mono"/>
              </a:rPr>
              <a:t>$ getent group docker</a:t>
            </a:r>
            <a:endParaRPr sz="800">
              <a:solidFill>
                <a:srgbClr val="58A6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35" name="Google Shape;635;p33"/>
          <p:cNvSpPr txBox="1"/>
          <p:nvPr/>
        </p:nvSpPr>
        <p:spPr>
          <a:xfrm>
            <a:off x="4089400" y="2235200"/>
            <a:ext cx="403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→  docker:x:999:mateen</a:t>
            </a:r>
            <a:endParaRPr sz="800">
              <a:solidFill>
                <a:srgbClr val="E6EDF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36" name="Google Shape;636;p33"/>
          <p:cNvSpPr/>
          <p:nvPr/>
        </p:nvSpPr>
        <p:spPr>
          <a:xfrm>
            <a:off x="8153400" y="2273300"/>
            <a:ext cx="711300" cy="279300"/>
          </a:xfrm>
          <a:prstGeom prst="rect">
            <a:avLst/>
          </a:prstGeom>
          <a:solidFill>
            <a:srgbClr val="161B22"/>
          </a:solidFill>
          <a:ln cap="flat" cmpd="sng" w="1905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33"/>
          <p:cNvSpPr txBox="1"/>
          <p:nvPr/>
        </p:nvSpPr>
        <p:spPr>
          <a:xfrm>
            <a:off x="8153400" y="2273300"/>
            <a:ext cx="7113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58A6FF"/>
                </a:solidFill>
                <a:latin typeface="Roboto Mono"/>
                <a:ea typeface="Roboto Mono"/>
                <a:cs typeface="Roboto Mono"/>
                <a:sym typeface="Roboto Mono"/>
              </a:rPr>
              <a:t>Part 2</a:t>
            </a:r>
            <a:endParaRPr b="1" sz="700">
              <a:solidFill>
                <a:srgbClr val="58A6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38" name="Google Shape;638;p33"/>
          <p:cNvSpPr/>
          <p:nvPr/>
        </p:nvSpPr>
        <p:spPr>
          <a:xfrm>
            <a:off x="254000" y="2717800"/>
            <a:ext cx="8636100" cy="381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33"/>
          <p:cNvSpPr/>
          <p:nvPr/>
        </p:nvSpPr>
        <p:spPr>
          <a:xfrm>
            <a:off x="254000" y="2717800"/>
            <a:ext cx="3759300" cy="381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33"/>
          <p:cNvSpPr txBox="1"/>
          <p:nvPr/>
        </p:nvSpPr>
        <p:spPr>
          <a:xfrm>
            <a:off x="330200" y="2717800"/>
            <a:ext cx="3606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3FB950"/>
                </a:solidFill>
                <a:latin typeface="Roboto Mono"/>
                <a:ea typeface="Roboto Mono"/>
                <a:cs typeface="Roboto Mono"/>
                <a:sym typeface="Roboto Mono"/>
              </a:rPr>
              <a:t>$ docker ps</a:t>
            </a:r>
            <a:endParaRPr sz="800">
              <a:solidFill>
                <a:srgbClr val="3FB95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41" name="Google Shape;641;p33"/>
          <p:cNvSpPr txBox="1"/>
          <p:nvPr/>
        </p:nvSpPr>
        <p:spPr>
          <a:xfrm>
            <a:off x="4089400" y="2717800"/>
            <a:ext cx="403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→  webapp  Up X min  0.0.0.0:8080-&gt;80/tcp</a:t>
            </a:r>
            <a:endParaRPr sz="800">
              <a:solidFill>
                <a:srgbClr val="E6EDF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42" name="Google Shape;642;p33"/>
          <p:cNvSpPr/>
          <p:nvPr/>
        </p:nvSpPr>
        <p:spPr>
          <a:xfrm>
            <a:off x="8153400" y="2755900"/>
            <a:ext cx="711300" cy="279300"/>
          </a:xfrm>
          <a:prstGeom prst="rect">
            <a:avLst/>
          </a:prstGeom>
          <a:solidFill>
            <a:srgbClr val="161B22"/>
          </a:solidFill>
          <a:ln cap="flat" cmpd="sng" w="1905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33"/>
          <p:cNvSpPr txBox="1"/>
          <p:nvPr/>
        </p:nvSpPr>
        <p:spPr>
          <a:xfrm>
            <a:off x="8153400" y="2755900"/>
            <a:ext cx="7113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3FB950"/>
                </a:solidFill>
                <a:latin typeface="Roboto Mono"/>
                <a:ea typeface="Roboto Mono"/>
                <a:cs typeface="Roboto Mono"/>
                <a:sym typeface="Roboto Mono"/>
              </a:rPr>
              <a:t>Part 3</a:t>
            </a:r>
            <a:endParaRPr b="1" sz="700">
              <a:solidFill>
                <a:srgbClr val="3FB95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44" name="Google Shape;644;p33"/>
          <p:cNvSpPr/>
          <p:nvPr/>
        </p:nvSpPr>
        <p:spPr>
          <a:xfrm>
            <a:off x="254000" y="3200400"/>
            <a:ext cx="8636100" cy="381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33"/>
          <p:cNvSpPr/>
          <p:nvPr/>
        </p:nvSpPr>
        <p:spPr>
          <a:xfrm>
            <a:off x="254000" y="3200400"/>
            <a:ext cx="3759300" cy="381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33"/>
          <p:cNvSpPr txBox="1"/>
          <p:nvPr/>
        </p:nvSpPr>
        <p:spPr>
          <a:xfrm>
            <a:off x="330200" y="3200400"/>
            <a:ext cx="3606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3FB950"/>
                </a:solidFill>
                <a:latin typeface="Roboto Mono"/>
                <a:ea typeface="Roboto Mono"/>
                <a:cs typeface="Roboto Mono"/>
                <a:sym typeface="Roboto Mono"/>
              </a:rPr>
              <a:t>$ curl http://localhost:8080</a:t>
            </a:r>
            <a:endParaRPr sz="800">
              <a:solidFill>
                <a:srgbClr val="3FB95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47" name="Google Shape;647;p33"/>
          <p:cNvSpPr txBox="1"/>
          <p:nvPr/>
        </p:nvSpPr>
        <p:spPr>
          <a:xfrm>
            <a:off x="4089400" y="3200400"/>
            <a:ext cx="403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→  HTTP 200  index.html returned</a:t>
            </a:r>
            <a:endParaRPr sz="800">
              <a:solidFill>
                <a:srgbClr val="E6EDF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48" name="Google Shape;648;p33"/>
          <p:cNvSpPr/>
          <p:nvPr/>
        </p:nvSpPr>
        <p:spPr>
          <a:xfrm>
            <a:off x="8153400" y="3238500"/>
            <a:ext cx="711300" cy="279300"/>
          </a:xfrm>
          <a:prstGeom prst="rect">
            <a:avLst/>
          </a:prstGeom>
          <a:solidFill>
            <a:srgbClr val="161B22"/>
          </a:solidFill>
          <a:ln cap="flat" cmpd="sng" w="1905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33"/>
          <p:cNvSpPr txBox="1"/>
          <p:nvPr/>
        </p:nvSpPr>
        <p:spPr>
          <a:xfrm>
            <a:off x="8153400" y="3238500"/>
            <a:ext cx="7113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3FB950"/>
                </a:solidFill>
                <a:latin typeface="Roboto Mono"/>
                <a:ea typeface="Roboto Mono"/>
                <a:cs typeface="Roboto Mono"/>
                <a:sym typeface="Roboto Mono"/>
              </a:rPr>
              <a:t>Part 3</a:t>
            </a:r>
            <a:endParaRPr b="1" sz="700">
              <a:solidFill>
                <a:srgbClr val="3FB95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50" name="Google Shape;650;p33"/>
          <p:cNvSpPr/>
          <p:nvPr/>
        </p:nvSpPr>
        <p:spPr>
          <a:xfrm>
            <a:off x="254000" y="3683000"/>
            <a:ext cx="8636100" cy="381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33"/>
          <p:cNvSpPr/>
          <p:nvPr/>
        </p:nvSpPr>
        <p:spPr>
          <a:xfrm>
            <a:off x="254000" y="3683000"/>
            <a:ext cx="3759300" cy="381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33"/>
          <p:cNvSpPr txBox="1"/>
          <p:nvPr/>
        </p:nvSpPr>
        <p:spPr>
          <a:xfrm>
            <a:off x="330200" y="3683000"/>
            <a:ext cx="3606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3FB950"/>
                </a:solidFill>
                <a:latin typeface="Roboto Mono"/>
                <a:ea typeface="Roboto Mono"/>
                <a:cs typeface="Roboto Mono"/>
                <a:sym typeface="Roboto Mono"/>
              </a:rPr>
              <a:t>$ docker logs webapp</a:t>
            </a:r>
            <a:endParaRPr sz="800">
              <a:solidFill>
                <a:srgbClr val="3FB95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53" name="Google Shape;653;p33"/>
          <p:cNvSpPr txBox="1"/>
          <p:nvPr/>
        </p:nvSpPr>
        <p:spPr>
          <a:xfrm>
            <a:off x="4089400" y="3683000"/>
            <a:ext cx="403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→  Nginx started - no errors in logs</a:t>
            </a:r>
            <a:endParaRPr sz="800">
              <a:solidFill>
                <a:srgbClr val="E6EDF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54" name="Google Shape;654;p33"/>
          <p:cNvSpPr/>
          <p:nvPr/>
        </p:nvSpPr>
        <p:spPr>
          <a:xfrm>
            <a:off x="8153400" y="3721100"/>
            <a:ext cx="711300" cy="279300"/>
          </a:xfrm>
          <a:prstGeom prst="rect">
            <a:avLst/>
          </a:prstGeom>
          <a:solidFill>
            <a:srgbClr val="161B22"/>
          </a:solidFill>
          <a:ln cap="flat" cmpd="sng" w="1905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33"/>
          <p:cNvSpPr txBox="1"/>
          <p:nvPr/>
        </p:nvSpPr>
        <p:spPr>
          <a:xfrm>
            <a:off x="8153400" y="3721100"/>
            <a:ext cx="7113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3FB950"/>
                </a:solidFill>
                <a:latin typeface="Roboto Mono"/>
                <a:ea typeface="Roboto Mono"/>
                <a:cs typeface="Roboto Mono"/>
                <a:sym typeface="Roboto Mono"/>
              </a:rPr>
              <a:t>Part 3</a:t>
            </a:r>
            <a:endParaRPr b="1" sz="700">
              <a:solidFill>
                <a:srgbClr val="3FB95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56" name="Google Shape;656;p33"/>
          <p:cNvSpPr/>
          <p:nvPr/>
        </p:nvSpPr>
        <p:spPr>
          <a:xfrm>
            <a:off x="254000" y="4165600"/>
            <a:ext cx="8636100" cy="381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33"/>
          <p:cNvSpPr/>
          <p:nvPr/>
        </p:nvSpPr>
        <p:spPr>
          <a:xfrm>
            <a:off x="254000" y="4165600"/>
            <a:ext cx="3759300" cy="381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33"/>
          <p:cNvSpPr txBox="1"/>
          <p:nvPr/>
        </p:nvSpPr>
        <p:spPr>
          <a:xfrm>
            <a:off x="330200" y="4165600"/>
            <a:ext cx="3606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BC8CFF"/>
                </a:solidFill>
                <a:latin typeface="Roboto Mono"/>
                <a:ea typeface="Roboto Mono"/>
                <a:cs typeface="Roboto Mono"/>
                <a:sym typeface="Roboto Mono"/>
              </a:rPr>
              <a:t>$ GitHub Actions → green check</a:t>
            </a:r>
            <a:endParaRPr sz="800">
              <a:solidFill>
                <a:srgbClr val="BC8C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59" name="Google Shape;659;p33"/>
          <p:cNvSpPr txBox="1"/>
          <p:nvPr/>
        </p:nvSpPr>
        <p:spPr>
          <a:xfrm>
            <a:off x="4089400" y="4165600"/>
            <a:ext cx="403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→  All steps passed  PLAY RECAP ok=7 changed=3</a:t>
            </a:r>
            <a:endParaRPr sz="800">
              <a:solidFill>
                <a:srgbClr val="E6EDF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60" name="Google Shape;660;p33"/>
          <p:cNvSpPr/>
          <p:nvPr/>
        </p:nvSpPr>
        <p:spPr>
          <a:xfrm>
            <a:off x="8153400" y="4203700"/>
            <a:ext cx="711300" cy="279300"/>
          </a:xfrm>
          <a:prstGeom prst="rect">
            <a:avLst/>
          </a:prstGeom>
          <a:solidFill>
            <a:srgbClr val="161B22"/>
          </a:solidFill>
          <a:ln cap="flat" cmpd="sng" w="1905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33"/>
          <p:cNvSpPr txBox="1"/>
          <p:nvPr/>
        </p:nvSpPr>
        <p:spPr>
          <a:xfrm>
            <a:off x="8153400" y="4203700"/>
            <a:ext cx="7113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BC8CFF"/>
                </a:solidFill>
                <a:latin typeface="Roboto Mono"/>
                <a:ea typeface="Roboto Mono"/>
                <a:cs typeface="Roboto Mono"/>
                <a:sym typeface="Roboto Mono"/>
              </a:rPr>
              <a:t>Part 4</a:t>
            </a:r>
            <a:endParaRPr b="1" sz="700">
              <a:solidFill>
                <a:srgbClr val="BC8C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62" name="Google Shape;662;p33"/>
          <p:cNvSpPr txBox="1"/>
          <p:nvPr/>
        </p:nvSpPr>
        <p:spPr>
          <a:xfrm>
            <a:off x="8382000" y="4864100"/>
            <a:ext cx="6351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21 / 22</a:t>
            </a:r>
            <a:endParaRPr sz="8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34"/>
          <p:cNvSpPr/>
          <p:nvPr/>
        </p:nvSpPr>
        <p:spPr>
          <a:xfrm>
            <a:off x="0" y="0"/>
            <a:ext cx="9144000" cy="1017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34"/>
          <p:cNvSpPr txBox="1"/>
          <p:nvPr/>
        </p:nvSpPr>
        <p:spPr>
          <a:xfrm>
            <a:off x="254000" y="254000"/>
            <a:ext cx="86361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Conclusion</a:t>
            </a:r>
            <a:endParaRPr b="1" sz="32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669" name="Google Shape;669;p34"/>
          <p:cNvCxnSpPr/>
          <p:nvPr/>
        </p:nvCxnSpPr>
        <p:spPr>
          <a:xfrm>
            <a:off x="254000" y="812800"/>
            <a:ext cx="8636100" cy="0"/>
          </a:xfrm>
          <a:prstGeom prst="straightConnector1">
            <a:avLst/>
          </a:prstGeom>
          <a:noFill/>
          <a:ln cap="flat" cmpd="sng" w="12700">
            <a:solidFill>
              <a:srgbClr val="58A6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0" name="Google Shape;670;p34"/>
          <p:cNvSpPr/>
          <p:nvPr/>
        </p:nvSpPr>
        <p:spPr>
          <a:xfrm>
            <a:off x="254000" y="965200"/>
            <a:ext cx="8636100" cy="5841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34"/>
          <p:cNvSpPr/>
          <p:nvPr/>
        </p:nvSpPr>
        <p:spPr>
          <a:xfrm>
            <a:off x="254000" y="965200"/>
            <a:ext cx="63600" cy="5841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34"/>
          <p:cNvSpPr txBox="1"/>
          <p:nvPr/>
        </p:nvSpPr>
        <p:spPr>
          <a:xfrm>
            <a:off x="431800" y="1016000"/>
            <a:ext cx="33021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3FB950"/>
                </a:solidFill>
                <a:latin typeface="Google Sans"/>
                <a:ea typeface="Google Sans"/>
                <a:cs typeface="Google Sans"/>
                <a:sym typeface="Google Sans"/>
              </a:rPr>
              <a:t>Full pipeline completed</a:t>
            </a:r>
            <a:endParaRPr b="1" sz="1100">
              <a:solidFill>
                <a:srgbClr val="3FB95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73" name="Google Shape;673;p34"/>
          <p:cNvSpPr txBox="1"/>
          <p:nvPr/>
        </p:nvSpPr>
        <p:spPr>
          <a:xfrm>
            <a:off x="431800" y="1295400"/>
            <a:ext cx="82551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All 4 parts working and integrated end to end</a:t>
            </a:r>
            <a:endParaRPr sz="1000">
              <a:solidFill>
                <a:srgbClr val="E6EDF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74" name="Google Shape;674;p34"/>
          <p:cNvSpPr/>
          <p:nvPr/>
        </p:nvSpPr>
        <p:spPr>
          <a:xfrm>
            <a:off x="254000" y="1676400"/>
            <a:ext cx="8636100" cy="5841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34"/>
          <p:cNvSpPr/>
          <p:nvPr/>
        </p:nvSpPr>
        <p:spPr>
          <a:xfrm>
            <a:off x="254000" y="1676400"/>
            <a:ext cx="63600" cy="584100"/>
          </a:xfrm>
          <a:prstGeom prst="rect">
            <a:avLst/>
          </a:prstGeom>
          <a:solidFill>
            <a:srgbClr val="39D3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34"/>
          <p:cNvSpPr txBox="1"/>
          <p:nvPr/>
        </p:nvSpPr>
        <p:spPr>
          <a:xfrm>
            <a:off x="431800" y="1727200"/>
            <a:ext cx="33021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39D3C3"/>
                </a:solidFill>
                <a:latin typeface="Google Sans"/>
                <a:ea typeface="Google Sans"/>
                <a:cs typeface="Google Sans"/>
                <a:sym typeface="Google Sans"/>
              </a:rPr>
              <a:t>Zero manual steps</a:t>
            </a:r>
            <a:endParaRPr b="1" sz="1100">
              <a:solidFill>
                <a:srgbClr val="39D3C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77" name="Google Shape;677;p34"/>
          <p:cNvSpPr txBox="1"/>
          <p:nvPr/>
        </p:nvSpPr>
        <p:spPr>
          <a:xfrm>
            <a:off x="431800" y="2006600"/>
            <a:ext cx="82551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git push → live deployment in under 2 minutes</a:t>
            </a:r>
            <a:endParaRPr sz="1000">
              <a:solidFill>
                <a:srgbClr val="E6EDF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78" name="Google Shape;678;p34"/>
          <p:cNvSpPr/>
          <p:nvPr/>
        </p:nvSpPr>
        <p:spPr>
          <a:xfrm>
            <a:off x="254000" y="2387600"/>
            <a:ext cx="8636100" cy="5841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34"/>
          <p:cNvSpPr/>
          <p:nvPr/>
        </p:nvSpPr>
        <p:spPr>
          <a:xfrm>
            <a:off x="254000" y="2387600"/>
            <a:ext cx="63600" cy="584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34"/>
          <p:cNvSpPr txBox="1"/>
          <p:nvPr/>
        </p:nvSpPr>
        <p:spPr>
          <a:xfrm>
            <a:off x="431800" y="2438400"/>
            <a:ext cx="33021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58A6FF"/>
                </a:solidFill>
                <a:latin typeface="Google Sans"/>
                <a:ea typeface="Google Sans"/>
                <a:cs typeface="Google Sans"/>
                <a:sym typeface="Google Sans"/>
              </a:rPr>
              <a:t>Single source of truth</a:t>
            </a:r>
            <a:endParaRPr b="1" sz="1100">
              <a:solidFill>
                <a:srgbClr val="58A6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81" name="Google Shape;681;p34"/>
          <p:cNvSpPr txBox="1"/>
          <p:nvPr/>
        </p:nvSpPr>
        <p:spPr>
          <a:xfrm>
            <a:off x="431800" y="2717800"/>
            <a:ext cx="82551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deploy.yml reused across manual and automated flows</a:t>
            </a:r>
            <a:endParaRPr sz="1000">
              <a:solidFill>
                <a:srgbClr val="E6EDF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82" name="Google Shape;682;p34"/>
          <p:cNvSpPr/>
          <p:nvPr/>
        </p:nvSpPr>
        <p:spPr>
          <a:xfrm>
            <a:off x="254000" y="3098800"/>
            <a:ext cx="8636100" cy="5841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34"/>
          <p:cNvSpPr/>
          <p:nvPr/>
        </p:nvSpPr>
        <p:spPr>
          <a:xfrm>
            <a:off x="254000" y="3098800"/>
            <a:ext cx="63600" cy="584100"/>
          </a:xfrm>
          <a:prstGeom prst="rect">
            <a:avLst/>
          </a:prstGeom>
          <a:solidFill>
            <a:srgbClr val="F0C6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34"/>
          <p:cNvSpPr txBox="1"/>
          <p:nvPr/>
        </p:nvSpPr>
        <p:spPr>
          <a:xfrm>
            <a:off x="431800" y="3149600"/>
            <a:ext cx="33021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0C674"/>
                </a:solidFill>
                <a:latin typeface="Google Sans"/>
                <a:ea typeface="Google Sans"/>
                <a:cs typeface="Google Sans"/>
                <a:sym typeface="Google Sans"/>
              </a:rPr>
              <a:t>Real constraints handled</a:t>
            </a:r>
            <a:endParaRPr b="1" sz="1100">
              <a:solidFill>
                <a:srgbClr val="F0C674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85" name="Google Shape;685;p34"/>
          <p:cNvSpPr txBox="1"/>
          <p:nvPr/>
        </p:nvSpPr>
        <p:spPr>
          <a:xfrm>
            <a:off x="431800" y="3429000"/>
            <a:ext cx="82551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Azure student limits solved - SSH key issue debugged and fixed</a:t>
            </a:r>
            <a:endParaRPr sz="1000">
              <a:solidFill>
                <a:srgbClr val="E6EDF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86" name="Google Shape;686;p34"/>
          <p:cNvSpPr/>
          <p:nvPr/>
        </p:nvSpPr>
        <p:spPr>
          <a:xfrm>
            <a:off x="254000" y="3810000"/>
            <a:ext cx="8636100" cy="5841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34"/>
          <p:cNvSpPr/>
          <p:nvPr/>
        </p:nvSpPr>
        <p:spPr>
          <a:xfrm>
            <a:off x="254000" y="3810000"/>
            <a:ext cx="63600" cy="584100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34"/>
          <p:cNvSpPr txBox="1"/>
          <p:nvPr/>
        </p:nvSpPr>
        <p:spPr>
          <a:xfrm>
            <a:off x="431800" y="3860800"/>
            <a:ext cx="33021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BC8CFF"/>
                </a:solidFill>
                <a:latin typeface="Google Sans"/>
                <a:ea typeface="Google Sans"/>
                <a:cs typeface="Google Sans"/>
                <a:sym typeface="Google Sans"/>
              </a:rPr>
              <a:t>Industry standard tools</a:t>
            </a:r>
            <a:endParaRPr b="1" sz="1100">
              <a:solidFill>
                <a:srgbClr val="BC8C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89" name="Google Shape;689;p34"/>
          <p:cNvSpPr txBox="1"/>
          <p:nvPr/>
        </p:nvSpPr>
        <p:spPr>
          <a:xfrm>
            <a:off x="431800" y="4140200"/>
            <a:ext cx="82551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Terraform  Ansible  Docker  GitHub Actions - all in demand in DevOps</a:t>
            </a:r>
            <a:endParaRPr sz="1000">
              <a:solidFill>
                <a:srgbClr val="E6EDF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90" name="Google Shape;690;p34"/>
          <p:cNvSpPr txBox="1"/>
          <p:nvPr/>
        </p:nvSpPr>
        <p:spPr>
          <a:xfrm>
            <a:off x="8382000" y="4864100"/>
            <a:ext cx="6351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8B949E"/>
                </a:solidFill>
                <a:latin typeface="Roboto Mono"/>
                <a:ea typeface="Roboto Mono"/>
                <a:cs typeface="Roboto Mono"/>
                <a:sym typeface="Roboto Mono"/>
              </a:rPr>
              <a:t>22 / 22</a:t>
            </a:r>
            <a:endParaRPr sz="800">
              <a:solidFill>
                <a:srgbClr val="8B949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